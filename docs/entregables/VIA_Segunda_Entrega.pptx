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8" r:id="rId3"/>
    <p:sldId id="260" r:id="rId4"/>
    <p:sldId id="261" r:id="rId5"/>
    <p:sldId id="262" r:id="rId6"/>
    <p:sldId id="263" r:id="rId7"/>
    <p:sldId id="264" r:id="rId8"/>
    <p:sldId id="265" r:id="rId9"/>
    <p:sldId id="266"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4399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a:effectLst/>
      </p:bgPr>
    </p:bg>
    <p:spTree>
      <p:nvGrpSpPr>
        <p:cNvPr id="1" name=""/>
        <p:cNvGrpSpPr/>
        <p:nvPr/>
      </p:nvGrpSpPr>
      <p:grpSpPr>
        <a:xfrm>
          <a:off x="0" y="0"/>
          <a:ext cx="0" cy="0"/>
          <a:chOff x="0" y="0"/>
          <a:chExt cx="0" cy="0"/>
        </a:xfrm>
      </p:grpSpPr>
      <p:sp>
        <p:nvSpPr>
          <p:cNvPr id="2" name="Shape 0"/>
          <p:cNvSpPr/>
          <p:nvPr/>
        </p:nvSpPr>
        <p:spPr>
          <a:xfrm>
            <a:off x="822960" y="1371600"/>
            <a:ext cx="1005840" cy="1005840"/>
          </a:xfrm>
          <a:prstGeom prst="roundRect">
            <a:avLst>
              <a:gd name="adj" fmla="val 10909"/>
            </a:avLst>
          </a:prstGeom>
          <a:solidFill>
            <a:srgbClr val="FFD400"/>
          </a:solidFill>
          <a:ln/>
        </p:spPr>
      </p:sp>
      <p:sp>
        <p:nvSpPr>
          <p:cNvPr id="3" name="Text 1"/>
          <p:cNvSpPr txBox="1"/>
          <p:nvPr/>
        </p:nvSpPr>
        <p:spPr>
          <a:xfrm>
            <a:off x="822960" y="1371600"/>
            <a:ext cx="1005840" cy="1005840"/>
          </a:xfrm>
          <a:prstGeom prst="rect">
            <a:avLst/>
          </a:prstGeom>
          <a:noFill/>
          <a:ln/>
        </p:spPr>
        <p:txBody>
          <a:bodyPr wrap="square" lIns="0" tIns="0" rIns="0" bIns="0" rtlCol="0" anchor="ctr"/>
          <a:lstStyle/>
          <a:p>
            <a:pPr marL="0" indent="0" algn="ctr">
              <a:buNone/>
            </a:pPr>
            <a:r>
              <a:rPr lang="en-US" sz="4000" b="1" dirty="0">
                <a:solidFill>
                  <a:srgbClr val="0B0F14"/>
                </a:solidFill>
                <a:latin typeface="Cambria" pitchFamily="34" charset="0"/>
                <a:ea typeface="Cambria" pitchFamily="34" charset="-122"/>
                <a:cs typeface="Cambria" pitchFamily="34" charset="-120"/>
              </a:rPr>
              <a:t>V</a:t>
            </a:r>
            <a:endParaRPr lang="en-US" sz="4000" dirty="0"/>
          </a:p>
        </p:txBody>
      </p:sp>
      <p:sp>
        <p:nvSpPr>
          <p:cNvPr id="4" name="Text 2"/>
          <p:cNvSpPr txBox="1"/>
          <p:nvPr/>
        </p:nvSpPr>
        <p:spPr>
          <a:xfrm>
            <a:off x="2057400" y="1417320"/>
            <a:ext cx="54864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VÍA</a:t>
            </a:r>
            <a:endParaRPr lang="en-US" sz="3000" dirty="0"/>
          </a:p>
        </p:txBody>
      </p:sp>
      <p:sp>
        <p:nvSpPr>
          <p:cNvPr id="5" name="Text 3"/>
          <p:cNvSpPr txBox="1"/>
          <p:nvPr/>
        </p:nvSpPr>
        <p:spPr>
          <a:xfrm>
            <a:off x="2057400" y="1920240"/>
            <a:ext cx="5486400" cy="365760"/>
          </a:xfrm>
          <a:prstGeom prst="rect">
            <a:avLst/>
          </a:prstGeom>
          <a:noFill/>
          <a:ln/>
        </p:spPr>
        <p:txBody>
          <a:bodyPr wrap="square" lIns="0" tIns="0" rIns="0" bIns="0" rtlCol="0" anchor="ctr"/>
          <a:lstStyle/>
          <a:p>
            <a:pPr marL="0" indent="0">
              <a:buNone/>
            </a:pPr>
            <a:r>
              <a:rPr lang="en-US" sz="1400" dirty="0">
                <a:solidFill>
                  <a:srgbClr val="B9C2CE"/>
                </a:solidFill>
                <a:latin typeface="Calibri" pitchFamily="34" charset="0"/>
                <a:ea typeface="Calibri" pitchFamily="34" charset="-122"/>
                <a:cs typeface="Calibri" pitchFamily="34" charset="-120"/>
              </a:rPr>
              <a:t>Voz, Imagen y Accesibilidad</a:t>
            </a:r>
            <a:endParaRPr lang="en-US" sz="1400" dirty="0"/>
          </a:p>
        </p:txBody>
      </p:sp>
      <p:sp>
        <p:nvSpPr>
          <p:cNvPr id="6" name="Text 4"/>
          <p:cNvSpPr txBox="1"/>
          <p:nvPr/>
        </p:nvSpPr>
        <p:spPr>
          <a:xfrm>
            <a:off x="822960" y="2880360"/>
            <a:ext cx="9601200" cy="137160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Diseño, prototipado y evaluación inicial</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de una aplicación inclusiva</a:t>
            </a:r>
            <a:endParaRPr lang="en-US" sz="4000" dirty="0"/>
          </a:p>
        </p:txBody>
      </p:sp>
      <p:sp>
        <p:nvSpPr>
          <p:cNvPr id="7" name="Text 5"/>
          <p:cNvSpPr txBox="1"/>
          <p:nvPr/>
        </p:nvSpPr>
        <p:spPr>
          <a:xfrm>
            <a:off x="822960" y="4251960"/>
            <a:ext cx="9144000" cy="457200"/>
          </a:xfrm>
          <a:prstGeom prst="rect">
            <a:avLst/>
          </a:prstGeom>
          <a:noFill/>
          <a:ln/>
        </p:spPr>
        <p:txBody>
          <a:bodyPr wrap="square" lIns="0" tIns="0" rIns="0" bIns="0" rtlCol="0" anchor="ctr"/>
          <a:lstStyle/>
          <a:p>
            <a:pPr marL="0" indent="0">
              <a:buNone/>
            </a:pPr>
            <a:r>
              <a:rPr lang="en-US" sz="1600" i="1" dirty="0">
                <a:solidFill>
                  <a:srgbClr val="4DD0FF"/>
                </a:solidFill>
                <a:latin typeface="Calibri" pitchFamily="34" charset="0"/>
                <a:ea typeface="Calibri" pitchFamily="34" charset="-122"/>
                <a:cs typeface="Calibri" pitchFamily="34" charset="-120"/>
              </a:rPr>
              <a:t>Segunda entrega — avance del proyecto</a:t>
            </a:r>
            <a:endParaRPr lang="en-US" sz="1600" dirty="0"/>
          </a:p>
        </p:txBody>
      </p:sp>
      <p:sp>
        <p:nvSpPr>
          <p:cNvPr id="8" name="Text 6"/>
          <p:cNvSpPr txBox="1"/>
          <p:nvPr/>
        </p:nvSpPr>
        <p:spPr>
          <a:xfrm>
            <a:off x="822960" y="5760720"/>
            <a:ext cx="9601200" cy="731520"/>
          </a:xfrm>
          <a:prstGeom prst="rect">
            <a:avLst/>
          </a:prstGeom>
          <a:noFill/>
          <a:ln/>
        </p:spPr>
        <p:txBody>
          <a:bodyPr wrap="square" lIns="0" tIns="0" rIns="0" bIns="0" rtlCol="0" anchor="ctr"/>
          <a:lstStyle/>
          <a:p>
            <a:pPr marL="0" indent="0">
              <a:lnSpc>
                <a:spcPct val="130000"/>
              </a:lnSpc>
              <a:buNone/>
            </a:pPr>
            <a:r>
              <a:rPr lang="en-US" sz="1300" b="1" dirty="0">
                <a:solidFill>
                  <a:srgbClr val="B9C2CE"/>
                </a:solidFill>
                <a:latin typeface="Calibri" pitchFamily="34" charset="0"/>
                <a:ea typeface="Calibri" pitchFamily="34" charset="-122"/>
                <a:cs typeface="Calibri" pitchFamily="34" charset="-120"/>
              </a:rPr>
              <a:t>Curso: </a:t>
            </a:r>
            <a:r>
              <a:rPr lang="en-US" sz="1300" dirty="0">
                <a:solidFill>
                  <a:srgbClr val="FFFFFF"/>
                </a:solidFill>
                <a:latin typeface="Calibri" pitchFamily="34" charset="0"/>
                <a:ea typeface="Calibri" pitchFamily="34" charset="-122"/>
                <a:cs typeface="Calibri" pitchFamily="34" charset="-120"/>
              </a:rPr>
              <a:t>Interacción entre Hombre y Máquina
</a:t>
            </a:r>
            <a:r>
              <a:rPr lang="en-US" sz="1300" b="1" dirty="0">
                <a:solidFill>
                  <a:srgbClr val="B9C2CE"/>
                </a:solidFill>
                <a:latin typeface="Calibri" pitchFamily="34" charset="0"/>
                <a:ea typeface="Calibri" pitchFamily="34" charset="-122"/>
                <a:cs typeface="Calibri" pitchFamily="34" charset="-120"/>
              </a:rPr>
              <a:t>Integrantes: </a:t>
            </a:r>
            <a:r>
              <a:rPr lang="en-US" sz="1300" dirty="0">
                <a:solidFill>
                  <a:srgbClr val="FFFFFF"/>
                </a:solidFill>
                <a:latin typeface="Calibri" pitchFamily="34" charset="0"/>
                <a:ea typeface="Calibri" pitchFamily="34" charset="-122"/>
                <a:cs typeface="Calibri" pitchFamily="34" charset="-120"/>
              </a:rPr>
              <a:t>Enrique Sebastian Poma Nizama — U23200217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LA PROPUESTA</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Una capa de accesibilidad sobre cualquier contenido</a:t>
            </a:r>
            <a:endParaRPr lang="en-US" sz="3200" dirty="0"/>
          </a:p>
        </p:txBody>
      </p:sp>
      <p:sp>
        <p:nvSpPr>
          <p:cNvPr id="4" name="Text 2"/>
          <p:cNvSpPr txBox="1"/>
          <p:nvPr/>
        </p:nvSpPr>
        <p:spPr>
          <a:xfrm>
            <a:off x="548640" y="1920240"/>
            <a:ext cx="5120640" cy="3291840"/>
          </a:xfrm>
          <a:prstGeom prst="rect">
            <a:avLst/>
          </a:prstGeom>
          <a:noFill/>
          <a:ln/>
        </p:spPr>
        <p:txBody>
          <a:bodyPr wrap="square" lIns="0" tIns="0" rIns="0" bIns="0" rtlCol="0" anchor="ctr"/>
          <a:lstStyle/>
          <a:p>
            <a:pPr marL="0" indent="0">
              <a:lnSpc>
                <a:spcPct val="140000"/>
              </a:lnSpc>
              <a:buNone/>
            </a:pPr>
            <a:r>
              <a:rPr lang="en-US" sz="1650" dirty="0">
                <a:solidFill>
                  <a:srgbClr val="B9C2CE"/>
                </a:solidFill>
                <a:latin typeface="Calibri" pitchFamily="34" charset="0"/>
                <a:ea typeface="Calibri" pitchFamily="34" charset="-122"/>
                <a:cs typeface="Calibri" pitchFamily="34" charset="-120"/>
              </a:rPr>
              <a:t>VÍA es una aplicación móvil que recibe una página web, un documento o una fotografía, y devuelve la misma información en un formato que una persona con discapacidad visual sí puede percibir: voz, texto ampliado de alto contraste, o próximamente, línea braille.</a:t>
            </a:r>
            <a:endParaRPr lang="en-US" sz="1650" dirty="0"/>
          </a:p>
          <a:p>
            <a:pPr marL="0" indent="0">
              <a:lnSpc>
                <a:spcPct val="140000"/>
              </a:lnSpc>
              <a:buNone/>
            </a:pPr>
            <a:endParaRPr lang="en-US" sz="1650" dirty="0"/>
          </a:p>
          <a:p>
            <a:pPr marL="0" indent="0">
              <a:lnSpc>
                <a:spcPct val="140000"/>
              </a:lnSpc>
              <a:buNone/>
            </a:pPr>
            <a:r>
              <a:rPr lang="en-US" sz="1650" dirty="0">
                <a:solidFill>
                  <a:srgbClr val="B9C2CE"/>
                </a:solidFill>
                <a:latin typeface="Calibri" pitchFamily="34" charset="0"/>
                <a:ea typeface="Calibri" pitchFamily="34" charset="-122"/>
                <a:cs typeface="Calibri" pitchFamily="34" charset="-120"/>
              </a:rPr>
              <a:t>Toda la app se piensa y se opera por voz, de principio a fin.</a:t>
            </a:r>
            <a:endParaRPr lang="en-US" sz="1650" dirty="0"/>
          </a:p>
        </p:txBody>
      </p:sp>
      <p:sp>
        <p:nvSpPr>
          <p:cNvPr id="5" name="Shape 3"/>
          <p:cNvSpPr/>
          <p:nvPr/>
        </p:nvSpPr>
        <p:spPr>
          <a:xfrm>
            <a:off x="5989320" y="1920240"/>
            <a:ext cx="2651760" cy="1508760"/>
          </a:xfrm>
          <a:prstGeom prst="roundRect">
            <a:avLst>
              <a:gd name="adj" fmla="val 6061"/>
            </a:avLst>
          </a:prstGeom>
          <a:solidFill>
            <a:srgbClr val="1F2630"/>
          </a:solidFill>
          <a:ln w="12700">
            <a:solidFill>
              <a:srgbClr val="39424F"/>
            </a:solidFill>
            <a:prstDash val="solid"/>
          </a:ln>
        </p:spPr>
      </p:sp>
      <p:sp>
        <p:nvSpPr>
          <p:cNvPr id="6" name="Text 4"/>
          <p:cNvSpPr txBox="1"/>
          <p:nvPr/>
        </p:nvSpPr>
        <p:spPr>
          <a:xfrm>
            <a:off x="6172200" y="2057400"/>
            <a:ext cx="731520" cy="548640"/>
          </a:xfrm>
          <a:prstGeom prst="rect">
            <a:avLst/>
          </a:prstGeom>
          <a:noFill/>
          <a:ln/>
        </p:spPr>
        <p:txBody>
          <a:bodyPr wrap="square" lIns="0" tIns="0" rIns="0" bIns="0" rtlCol="0" anchor="ctr"/>
          <a:lstStyle/>
          <a:p>
            <a:pPr marL="0" indent="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7" name="Text 5"/>
          <p:cNvSpPr txBox="1"/>
          <p:nvPr/>
        </p:nvSpPr>
        <p:spPr>
          <a:xfrm>
            <a:off x="6172200" y="2606040"/>
            <a:ext cx="23317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Lector adaptativo</a:t>
            </a:r>
            <a:endParaRPr lang="en-US" sz="1300" dirty="0"/>
          </a:p>
        </p:txBody>
      </p:sp>
      <p:sp>
        <p:nvSpPr>
          <p:cNvPr id="8" name="Text 6"/>
          <p:cNvSpPr txBox="1"/>
          <p:nvPr/>
        </p:nvSpPr>
        <p:spPr>
          <a:xfrm>
            <a:off x="6172200" y="2971800"/>
            <a:ext cx="2331720" cy="457200"/>
          </a:xfrm>
          <a:prstGeom prst="rect">
            <a:avLst/>
          </a:prstGeom>
          <a:noFill/>
          <a:ln/>
        </p:spPr>
        <p:txBody>
          <a:bodyPr wrap="square" lIns="0" tIns="0" rIns="0" bIns="0" rtlCol="0" anchor="ctr"/>
          <a:lstStyle/>
          <a:p>
            <a:pPr marL="0" indent="0">
              <a:lnSpc>
                <a:spcPct val="115000"/>
              </a:lnSpc>
              <a:buNone/>
            </a:pPr>
            <a:r>
              <a:rPr lang="en-US" sz="1050" dirty="0">
                <a:solidFill>
                  <a:srgbClr val="B9C2CE"/>
                </a:solidFill>
                <a:latin typeface="Calibri" pitchFamily="34" charset="0"/>
                <a:ea typeface="Calibri" pitchFamily="34" charset="-122"/>
                <a:cs typeface="Calibri" pitchFamily="34" charset="-120"/>
              </a:rPr>
              <a:t>Reconstruye páginas web con jerarquía y alto contraste</a:t>
            </a:r>
            <a:endParaRPr lang="en-US" sz="1050" dirty="0"/>
          </a:p>
        </p:txBody>
      </p:sp>
      <p:sp>
        <p:nvSpPr>
          <p:cNvPr id="9" name="Shape 7"/>
          <p:cNvSpPr/>
          <p:nvPr/>
        </p:nvSpPr>
        <p:spPr>
          <a:xfrm>
            <a:off x="8823960" y="1920240"/>
            <a:ext cx="2651760" cy="1508760"/>
          </a:xfrm>
          <a:prstGeom prst="roundRect">
            <a:avLst>
              <a:gd name="adj" fmla="val 6061"/>
            </a:avLst>
          </a:prstGeom>
          <a:solidFill>
            <a:srgbClr val="1F2630"/>
          </a:solidFill>
          <a:ln w="12700">
            <a:solidFill>
              <a:srgbClr val="39424F"/>
            </a:solidFill>
            <a:prstDash val="solid"/>
          </a:ln>
        </p:spPr>
      </p:sp>
      <p:sp>
        <p:nvSpPr>
          <p:cNvPr id="10" name="Text 8"/>
          <p:cNvSpPr txBox="1"/>
          <p:nvPr/>
        </p:nvSpPr>
        <p:spPr>
          <a:xfrm>
            <a:off x="9006840" y="2057400"/>
            <a:ext cx="731520" cy="548640"/>
          </a:xfrm>
          <a:prstGeom prst="rect">
            <a:avLst/>
          </a:prstGeom>
          <a:noFill/>
          <a:ln/>
        </p:spPr>
        <p:txBody>
          <a:bodyPr wrap="square" lIns="0" tIns="0" rIns="0" bIns="0" rtlCol="0" anchor="ctr"/>
          <a:lstStyle/>
          <a:p>
            <a:pPr marL="0" indent="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1" name="Text 9"/>
          <p:cNvSpPr txBox="1"/>
          <p:nvPr/>
        </p:nvSpPr>
        <p:spPr>
          <a:xfrm>
            <a:off x="9006840" y="2606040"/>
            <a:ext cx="23317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Ojo IA</a:t>
            </a:r>
            <a:endParaRPr lang="en-US" sz="1300" dirty="0"/>
          </a:p>
        </p:txBody>
      </p:sp>
      <p:sp>
        <p:nvSpPr>
          <p:cNvPr id="12" name="Text 10"/>
          <p:cNvSpPr txBox="1"/>
          <p:nvPr/>
        </p:nvSpPr>
        <p:spPr>
          <a:xfrm>
            <a:off x="9006840" y="2971800"/>
            <a:ext cx="2331720" cy="457200"/>
          </a:xfrm>
          <a:prstGeom prst="rect">
            <a:avLst/>
          </a:prstGeom>
          <a:noFill/>
          <a:ln/>
        </p:spPr>
        <p:txBody>
          <a:bodyPr wrap="square" lIns="0" tIns="0" rIns="0" bIns="0" rtlCol="0" anchor="ctr"/>
          <a:lstStyle/>
          <a:p>
            <a:pPr marL="0" indent="0">
              <a:lnSpc>
                <a:spcPct val="115000"/>
              </a:lnSpc>
              <a:buNone/>
            </a:pPr>
            <a:r>
              <a:rPr lang="en-US" sz="1050" dirty="0">
                <a:solidFill>
                  <a:srgbClr val="B9C2CE"/>
                </a:solidFill>
                <a:latin typeface="Calibri" pitchFamily="34" charset="0"/>
                <a:ea typeface="Calibri" pitchFamily="34" charset="-122"/>
                <a:cs typeface="Calibri" pitchFamily="34" charset="-120"/>
              </a:rPr>
              <a:t>Cámara con guía por voz + lectura de texto (OCR)</a:t>
            </a:r>
            <a:endParaRPr lang="en-US" sz="1050" dirty="0"/>
          </a:p>
        </p:txBody>
      </p:sp>
      <p:sp>
        <p:nvSpPr>
          <p:cNvPr id="13" name="Shape 11"/>
          <p:cNvSpPr/>
          <p:nvPr/>
        </p:nvSpPr>
        <p:spPr>
          <a:xfrm>
            <a:off x="5989320" y="3611880"/>
            <a:ext cx="2651760" cy="1508760"/>
          </a:xfrm>
          <a:prstGeom prst="roundRect">
            <a:avLst>
              <a:gd name="adj" fmla="val 6061"/>
            </a:avLst>
          </a:prstGeom>
          <a:solidFill>
            <a:srgbClr val="1F2630"/>
          </a:solidFill>
          <a:ln w="12700">
            <a:solidFill>
              <a:srgbClr val="39424F"/>
            </a:solidFill>
            <a:prstDash val="solid"/>
          </a:ln>
        </p:spPr>
      </p:sp>
      <p:sp>
        <p:nvSpPr>
          <p:cNvPr id="14" name="Text 12"/>
          <p:cNvSpPr txBox="1"/>
          <p:nvPr/>
        </p:nvSpPr>
        <p:spPr>
          <a:xfrm>
            <a:off x="6172200" y="3749040"/>
            <a:ext cx="731520" cy="548640"/>
          </a:xfrm>
          <a:prstGeom prst="rect">
            <a:avLst/>
          </a:prstGeom>
          <a:noFill/>
          <a:ln/>
        </p:spPr>
        <p:txBody>
          <a:bodyPr wrap="square" lIns="0" tIns="0" rIns="0" bIns="0" rtlCol="0" anchor="ctr"/>
          <a:lstStyle/>
          <a:p>
            <a:pPr marL="0" indent="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5" name="Text 13"/>
          <p:cNvSpPr txBox="1"/>
          <p:nvPr/>
        </p:nvSpPr>
        <p:spPr>
          <a:xfrm>
            <a:off x="6172200" y="4297680"/>
            <a:ext cx="23317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Navegación por voz</a:t>
            </a:r>
            <a:endParaRPr lang="en-US" sz="1300" dirty="0"/>
          </a:p>
        </p:txBody>
      </p:sp>
      <p:sp>
        <p:nvSpPr>
          <p:cNvPr id="16" name="Text 14"/>
          <p:cNvSpPr txBox="1"/>
          <p:nvPr/>
        </p:nvSpPr>
        <p:spPr>
          <a:xfrm>
            <a:off x="6172200" y="4663440"/>
            <a:ext cx="2331720" cy="457200"/>
          </a:xfrm>
          <a:prstGeom prst="rect">
            <a:avLst/>
          </a:prstGeom>
          <a:noFill/>
          <a:ln/>
        </p:spPr>
        <p:txBody>
          <a:bodyPr wrap="square" lIns="0" tIns="0" rIns="0" bIns="0" rtlCol="0" anchor="ctr"/>
          <a:lstStyle/>
          <a:p>
            <a:pPr marL="0" indent="0">
              <a:lnSpc>
                <a:spcPct val="115000"/>
              </a:lnSpc>
              <a:buNone/>
            </a:pPr>
            <a:r>
              <a:rPr lang="en-US" sz="1050" dirty="0">
                <a:solidFill>
                  <a:srgbClr val="B9C2CE"/>
                </a:solidFill>
                <a:latin typeface="Calibri" pitchFamily="34" charset="0"/>
                <a:ea typeface="Calibri" pitchFamily="34" charset="-122"/>
                <a:cs typeface="Calibri" pitchFamily="34" charset="-120"/>
              </a:rPr>
              <a:t>Toda la app se opera hablando, en español</a:t>
            </a:r>
            <a:endParaRPr lang="en-US" sz="1050" dirty="0"/>
          </a:p>
        </p:txBody>
      </p:sp>
      <p:sp>
        <p:nvSpPr>
          <p:cNvPr id="17" name="Shape 15"/>
          <p:cNvSpPr/>
          <p:nvPr/>
        </p:nvSpPr>
        <p:spPr>
          <a:xfrm>
            <a:off x="8823960" y="3611880"/>
            <a:ext cx="2651760" cy="1508760"/>
          </a:xfrm>
          <a:prstGeom prst="roundRect">
            <a:avLst>
              <a:gd name="adj" fmla="val 6061"/>
            </a:avLst>
          </a:prstGeom>
          <a:solidFill>
            <a:srgbClr val="1F2630"/>
          </a:solidFill>
          <a:ln w="12700">
            <a:solidFill>
              <a:srgbClr val="39424F"/>
            </a:solidFill>
            <a:prstDash val="solid"/>
          </a:ln>
        </p:spPr>
      </p:sp>
      <p:sp>
        <p:nvSpPr>
          <p:cNvPr id="18" name="Text 16"/>
          <p:cNvSpPr txBox="1"/>
          <p:nvPr/>
        </p:nvSpPr>
        <p:spPr>
          <a:xfrm>
            <a:off x="9006840" y="3749040"/>
            <a:ext cx="731520" cy="548640"/>
          </a:xfrm>
          <a:prstGeom prst="rect">
            <a:avLst/>
          </a:prstGeom>
          <a:noFill/>
          <a:ln/>
        </p:spPr>
        <p:txBody>
          <a:bodyPr wrap="square" lIns="0" tIns="0" rIns="0" bIns="0" rtlCol="0" anchor="ctr"/>
          <a:lstStyle/>
          <a:p>
            <a:pPr marL="0" indent="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9" name="Text 17"/>
          <p:cNvSpPr txBox="1"/>
          <p:nvPr/>
        </p:nvSpPr>
        <p:spPr>
          <a:xfrm>
            <a:off x="9006840" y="4297680"/>
            <a:ext cx="23317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Perfiles de accesibilidad</a:t>
            </a:r>
            <a:endParaRPr lang="en-US" sz="1300" dirty="0"/>
          </a:p>
        </p:txBody>
      </p:sp>
      <p:sp>
        <p:nvSpPr>
          <p:cNvPr id="20" name="Text 18"/>
          <p:cNvSpPr txBox="1"/>
          <p:nvPr/>
        </p:nvSpPr>
        <p:spPr>
          <a:xfrm>
            <a:off x="9006840" y="4663440"/>
            <a:ext cx="2331720" cy="457200"/>
          </a:xfrm>
          <a:prstGeom prst="rect">
            <a:avLst/>
          </a:prstGeom>
          <a:noFill/>
          <a:ln/>
        </p:spPr>
        <p:txBody>
          <a:bodyPr wrap="square" lIns="0" tIns="0" rIns="0" bIns="0" rtlCol="0" anchor="ctr"/>
          <a:lstStyle/>
          <a:p>
            <a:pPr marL="0" indent="0">
              <a:lnSpc>
                <a:spcPct val="115000"/>
              </a:lnSpc>
              <a:buNone/>
            </a:pPr>
            <a:r>
              <a:rPr lang="en-US" sz="1050" dirty="0">
                <a:solidFill>
                  <a:srgbClr val="B9C2CE"/>
                </a:solidFill>
                <a:latin typeface="Calibri" pitchFamily="34" charset="0"/>
                <a:ea typeface="Calibri" pitchFamily="34" charset="-122"/>
                <a:cs typeface="Calibri" pitchFamily="34" charset="-120"/>
              </a:rPr>
              <a:t>Ceguera, baja visión o daltonismo, configurado una vez</a:t>
            </a:r>
            <a:endParaRPr lang="en-US" sz="1050" dirty="0"/>
          </a:p>
        </p:txBody>
      </p:sp>
      <p:sp>
        <p:nvSpPr>
          <p:cNvPr id="21" name="Text 19"/>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METODOLOGÍA</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Las cinco etapas del Diseño Centrado en el Usuario</a:t>
            </a:r>
            <a:endParaRPr lang="en-US" sz="3200" dirty="0"/>
          </a:p>
        </p:txBody>
      </p:sp>
      <p:sp>
        <p:nvSpPr>
          <p:cNvPr id="4" name="Shape 2"/>
          <p:cNvSpPr/>
          <p:nvPr/>
        </p:nvSpPr>
        <p:spPr>
          <a:xfrm>
            <a:off x="1234440" y="2103120"/>
            <a:ext cx="822960" cy="822960"/>
          </a:xfrm>
          <a:prstGeom prst="ellipse">
            <a:avLst/>
          </a:prstGeom>
          <a:solidFill>
            <a:srgbClr val="1F2630"/>
          </a:solidFill>
          <a:ln w="25400">
            <a:solidFill>
              <a:srgbClr val="FFD400"/>
            </a:solidFill>
            <a:prstDash val="solid"/>
          </a:ln>
        </p:spPr>
      </p:sp>
      <p:sp>
        <p:nvSpPr>
          <p:cNvPr id="5" name="Text 3"/>
          <p:cNvSpPr txBox="1"/>
          <p:nvPr/>
        </p:nvSpPr>
        <p:spPr>
          <a:xfrm>
            <a:off x="1234440" y="2103120"/>
            <a:ext cx="822960" cy="822960"/>
          </a:xfrm>
          <a:prstGeom prst="rect">
            <a:avLst/>
          </a:prstGeom>
          <a:noFill/>
          <a:ln/>
        </p:spPr>
        <p:txBody>
          <a:bodyPr wrap="square" lIns="0" tIns="0" rIns="0" bIns="0" rtlCol="0" anchor="ctr"/>
          <a:lstStyle/>
          <a:p>
            <a:pPr marL="0" indent="0" algn="ctr">
              <a:buNone/>
            </a:pPr>
            <a:r>
              <a:rPr lang="en-US" sz="2400" b="1" dirty="0">
                <a:solidFill>
                  <a:srgbClr val="FFD400"/>
                </a:solidFill>
                <a:latin typeface="Cambria" pitchFamily="34" charset="0"/>
                <a:ea typeface="Cambria" pitchFamily="34" charset="-122"/>
                <a:cs typeface="Cambria" pitchFamily="34" charset="-120"/>
              </a:rPr>
              <a:t>1</a:t>
            </a:r>
            <a:endParaRPr lang="en-US" sz="2400" dirty="0"/>
          </a:p>
        </p:txBody>
      </p:sp>
      <p:sp>
        <p:nvSpPr>
          <p:cNvPr id="6" name="Shape 4"/>
          <p:cNvSpPr/>
          <p:nvPr/>
        </p:nvSpPr>
        <p:spPr>
          <a:xfrm>
            <a:off x="2057400" y="2514600"/>
            <a:ext cx="713232" cy="0"/>
          </a:xfrm>
          <a:prstGeom prst="line">
            <a:avLst/>
          </a:prstGeom>
          <a:noFill/>
          <a:ln w="25400">
            <a:solidFill>
              <a:srgbClr val="39424F"/>
            </a:solidFill>
            <a:prstDash val="solid"/>
          </a:ln>
        </p:spPr>
      </p:sp>
      <p:sp>
        <p:nvSpPr>
          <p:cNvPr id="7" name="Text 5"/>
          <p:cNvSpPr txBox="1"/>
          <p:nvPr/>
        </p:nvSpPr>
        <p:spPr>
          <a:xfrm>
            <a:off x="548640" y="315468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Empatizar</a:t>
            </a:r>
            <a:endParaRPr lang="en-US" sz="1500" dirty="0"/>
          </a:p>
        </p:txBody>
      </p:sp>
      <p:sp>
        <p:nvSpPr>
          <p:cNvPr id="8" name="Text 6"/>
          <p:cNvSpPr txBox="1"/>
          <p:nvPr/>
        </p:nvSpPr>
        <p:spPr>
          <a:xfrm>
            <a:off x="621792" y="3566160"/>
            <a:ext cx="2057400" cy="1463040"/>
          </a:xfrm>
          <a:prstGeom prst="rect">
            <a:avLst/>
          </a:prstGeom>
          <a:noFill/>
          <a:ln/>
        </p:spPr>
        <p:txBody>
          <a:bodyPr wrap="square" lIns="0" tIns="0" rIns="0" bIns="0" rtlCol="0" anchor="ctr"/>
          <a:lstStyle/>
          <a:p>
            <a:pPr marL="0" indent="0" algn="ctr">
              <a:lnSpc>
                <a:spcPct val="125000"/>
              </a:lnSpc>
              <a:buNone/>
            </a:pPr>
            <a:r>
              <a:rPr lang="en-US" sz="1150" dirty="0">
                <a:solidFill>
                  <a:srgbClr val="B9C2CE"/>
                </a:solidFill>
                <a:latin typeface="Calibri" pitchFamily="34" charset="0"/>
                <a:ea typeface="Calibri" pitchFamily="34" charset="-122"/>
                <a:cs typeface="Calibri" pitchFamily="34" charset="-120"/>
              </a:rPr>
              <a:t>Revisión de literatura sobre accesibilidad para personas ciegas</a:t>
            </a:r>
            <a:endParaRPr lang="en-US" sz="1150" dirty="0"/>
          </a:p>
        </p:txBody>
      </p:sp>
      <p:sp>
        <p:nvSpPr>
          <p:cNvPr id="9" name="Shape 7"/>
          <p:cNvSpPr/>
          <p:nvPr/>
        </p:nvSpPr>
        <p:spPr>
          <a:xfrm>
            <a:off x="3456432" y="2103120"/>
            <a:ext cx="822960" cy="822960"/>
          </a:xfrm>
          <a:prstGeom prst="ellipse">
            <a:avLst/>
          </a:prstGeom>
          <a:solidFill>
            <a:srgbClr val="1F2630"/>
          </a:solidFill>
          <a:ln w="25400">
            <a:solidFill>
              <a:srgbClr val="FFD400"/>
            </a:solidFill>
            <a:prstDash val="solid"/>
          </a:ln>
        </p:spPr>
      </p:sp>
      <p:sp>
        <p:nvSpPr>
          <p:cNvPr id="10" name="Text 8"/>
          <p:cNvSpPr txBox="1"/>
          <p:nvPr/>
        </p:nvSpPr>
        <p:spPr>
          <a:xfrm>
            <a:off x="3456432" y="2103120"/>
            <a:ext cx="822960" cy="822960"/>
          </a:xfrm>
          <a:prstGeom prst="rect">
            <a:avLst/>
          </a:prstGeom>
          <a:noFill/>
          <a:ln/>
        </p:spPr>
        <p:txBody>
          <a:bodyPr wrap="square" lIns="0" tIns="0" rIns="0" bIns="0" rtlCol="0" anchor="ctr"/>
          <a:lstStyle/>
          <a:p>
            <a:pPr marL="0" indent="0" algn="ctr">
              <a:buNone/>
            </a:pPr>
            <a:r>
              <a:rPr lang="en-US" sz="2400" b="1" dirty="0">
                <a:solidFill>
                  <a:srgbClr val="FFD400"/>
                </a:solidFill>
                <a:latin typeface="Cambria" pitchFamily="34" charset="0"/>
                <a:ea typeface="Cambria" pitchFamily="34" charset="-122"/>
                <a:cs typeface="Cambria" pitchFamily="34" charset="-120"/>
              </a:rPr>
              <a:t>2</a:t>
            </a:r>
            <a:endParaRPr lang="en-US" sz="2400" dirty="0"/>
          </a:p>
        </p:txBody>
      </p:sp>
      <p:sp>
        <p:nvSpPr>
          <p:cNvPr id="11" name="Shape 9"/>
          <p:cNvSpPr/>
          <p:nvPr/>
        </p:nvSpPr>
        <p:spPr>
          <a:xfrm>
            <a:off x="4279392" y="2514600"/>
            <a:ext cx="713232" cy="0"/>
          </a:xfrm>
          <a:prstGeom prst="line">
            <a:avLst/>
          </a:prstGeom>
          <a:noFill/>
          <a:ln w="25400">
            <a:solidFill>
              <a:srgbClr val="39424F"/>
            </a:solidFill>
            <a:prstDash val="solid"/>
          </a:ln>
        </p:spPr>
      </p:sp>
      <p:sp>
        <p:nvSpPr>
          <p:cNvPr id="12" name="Text 10"/>
          <p:cNvSpPr txBox="1"/>
          <p:nvPr/>
        </p:nvSpPr>
        <p:spPr>
          <a:xfrm>
            <a:off x="2770632" y="315468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Definir</a:t>
            </a:r>
            <a:endParaRPr lang="en-US" sz="1500" dirty="0"/>
          </a:p>
        </p:txBody>
      </p:sp>
      <p:sp>
        <p:nvSpPr>
          <p:cNvPr id="13" name="Text 11"/>
          <p:cNvSpPr txBox="1"/>
          <p:nvPr/>
        </p:nvSpPr>
        <p:spPr>
          <a:xfrm>
            <a:off x="2843784" y="3566160"/>
            <a:ext cx="2057400" cy="1463040"/>
          </a:xfrm>
          <a:prstGeom prst="rect">
            <a:avLst/>
          </a:prstGeom>
          <a:noFill/>
          <a:ln/>
        </p:spPr>
        <p:txBody>
          <a:bodyPr wrap="square" lIns="0" tIns="0" rIns="0" bIns="0" rtlCol="0" anchor="ctr"/>
          <a:lstStyle/>
          <a:p>
            <a:pPr marL="0" indent="0" algn="ctr">
              <a:lnSpc>
                <a:spcPct val="125000"/>
              </a:lnSpc>
              <a:buNone/>
            </a:pPr>
            <a:r>
              <a:rPr lang="en-US" sz="1150" dirty="0">
                <a:solidFill>
                  <a:srgbClr val="B9C2CE"/>
                </a:solidFill>
                <a:latin typeface="Calibri" pitchFamily="34" charset="0"/>
                <a:ea typeface="Calibri" pitchFamily="34" charset="-122"/>
                <a:cs typeface="Calibri" pitchFamily="34" charset="-120"/>
              </a:rPr>
              <a:t>22 requisitos funcionales y 11 no funcionales</a:t>
            </a:r>
            <a:endParaRPr lang="en-US" sz="1150" dirty="0"/>
          </a:p>
        </p:txBody>
      </p:sp>
      <p:sp>
        <p:nvSpPr>
          <p:cNvPr id="14" name="Shape 12"/>
          <p:cNvSpPr/>
          <p:nvPr/>
        </p:nvSpPr>
        <p:spPr>
          <a:xfrm>
            <a:off x="5678424" y="2103120"/>
            <a:ext cx="822960" cy="822960"/>
          </a:xfrm>
          <a:prstGeom prst="ellipse">
            <a:avLst/>
          </a:prstGeom>
          <a:solidFill>
            <a:srgbClr val="1F2630"/>
          </a:solidFill>
          <a:ln w="25400">
            <a:solidFill>
              <a:srgbClr val="FFD400"/>
            </a:solidFill>
            <a:prstDash val="solid"/>
          </a:ln>
        </p:spPr>
      </p:sp>
      <p:sp>
        <p:nvSpPr>
          <p:cNvPr id="15" name="Text 13"/>
          <p:cNvSpPr txBox="1"/>
          <p:nvPr/>
        </p:nvSpPr>
        <p:spPr>
          <a:xfrm>
            <a:off x="5678424" y="2103120"/>
            <a:ext cx="822960" cy="822960"/>
          </a:xfrm>
          <a:prstGeom prst="rect">
            <a:avLst/>
          </a:prstGeom>
          <a:noFill/>
          <a:ln/>
        </p:spPr>
        <p:txBody>
          <a:bodyPr wrap="square" lIns="0" tIns="0" rIns="0" bIns="0" rtlCol="0" anchor="ctr"/>
          <a:lstStyle/>
          <a:p>
            <a:pPr marL="0" indent="0" algn="ctr">
              <a:buNone/>
            </a:pPr>
            <a:r>
              <a:rPr lang="en-US" sz="2400" b="1" dirty="0">
                <a:solidFill>
                  <a:srgbClr val="FFD400"/>
                </a:solidFill>
                <a:latin typeface="Cambria" pitchFamily="34" charset="0"/>
                <a:ea typeface="Cambria" pitchFamily="34" charset="-122"/>
                <a:cs typeface="Cambria" pitchFamily="34" charset="-120"/>
              </a:rPr>
              <a:t>3</a:t>
            </a:r>
            <a:endParaRPr lang="en-US" sz="2400" dirty="0"/>
          </a:p>
        </p:txBody>
      </p:sp>
      <p:sp>
        <p:nvSpPr>
          <p:cNvPr id="16" name="Shape 14"/>
          <p:cNvSpPr/>
          <p:nvPr/>
        </p:nvSpPr>
        <p:spPr>
          <a:xfrm>
            <a:off x="6501384" y="2514600"/>
            <a:ext cx="713232" cy="0"/>
          </a:xfrm>
          <a:prstGeom prst="line">
            <a:avLst/>
          </a:prstGeom>
          <a:noFill/>
          <a:ln w="25400">
            <a:solidFill>
              <a:srgbClr val="39424F"/>
            </a:solidFill>
            <a:prstDash val="solid"/>
          </a:ln>
        </p:spPr>
      </p:sp>
      <p:sp>
        <p:nvSpPr>
          <p:cNvPr id="17" name="Text 15"/>
          <p:cNvSpPr txBox="1"/>
          <p:nvPr/>
        </p:nvSpPr>
        <p:spPr>
          <a:xfrm>
            <a:off x="4992624" y="315468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Idear</a:t>
            </a:r>
            <a:endParaRPr lang="en-US" sz="1500" dirty="0"/>
          </a:p>
        </p:txBody>
      </p:sp>
      <p:sp>
        <p:nvSpPr>
          <p:cNvPr id="18" name="Text 16"/>
          <p:cNvSpPr txBox="1"/>
          <p:nvPr/>
        </p:nvSpPr>
        <p:spPr>
          <a:xfrm>
            <a:off x="5065776" y="3566160"/>
            <a:ext cx="2057400" cy="1463040"/>
          </a:xfrm>
          <a:prstGeom prst="rect">
            <a:avLst/>
          </a:prstGeom>
          <a:noFill/>
          <a:ln/>
        </p:spPr>
        <p:txBody>
          <a:bodyPr wrap="square" lIns="0" tIns="0" rIns="0" bIns="0" rtlCol="0" anchor="ctr"/>
          <a:lstStyle/>
          <a:p>
            <a:pPr marL="0" indent="0" algn="ctr">
              <a:lnSpc>
                <a:spcPct val="125000"/>
              </a:lnSpc>
              <a:buNone/>
            </a:pPr>
            <a:r>
              <a:rPr lang="en-US" sz="1150" dirty="0">
                <a:solidFill>
                  <a:srgbClr val="B9C2CE"/>
                </a:solidFill>
                <a:latin typeface="Calibri" pitchFamily="34" charset="0"/>
                <a:ea typeface="Calibri" pitchFamily="34" charset="-122"/>
                <a:cs typeface="Calibri" pitchFamily="34" charset="-120"/>
              </a:rPr>
              <a:t>Sistema de diseño con contraste verificado matemáticamente</a:t>
            </a:r>
            <a:endParaRPr lang="en-US" sz="1150" dirty="0"/>
          </a:p>
        </p:txBody>
      </p:sp>
      <p:sp>
        <p:nvSpPr>
          <p:cNvPr id="19" name="Shape 17"/>
          <p:cNvSpPr/>
          <p:nvPr/>
        </p:nvSpPr>
        <p:spPr>
          <a:xfrm>
            <a:off x="7900416" y="2103120"/>
            <a:ext cx="822960" cy="822960"/>
          </a:xfrm>
          <a:prstGeom prst="ellipse">
            <a:avLst/>
          </a:prstGeom>
          <a:solidFill>
            <a:srgbClr val="1F2630"/>
          </a:solidFill>
          <a:ln w="25400">
            <a:solidFill>
              <a:srgbClr val="FFD400"/>
            </a:solidFill>
            <a:prstDash val="solid"/>
          </a:ln>
        </p:spPr>
      </p:sp>
      <p:sp>
        <p:nvSpPr>
          <p:cNvPr id="20" name="Text 18"/>
          <p:cNvSpPr txBox="1"/>
          <p:nvPr/>
        </p:nvSpPr>
        <p:spPr>
          <a:xfrm>
            <a:off x="7900416" y="2103120"/>
            <a:ext cx="822960" cy="822960"/>
          </a:xfrm>
          <a:prstGeom prst="rect">
            <a:avLst/>
          </a:prstGeom>
          <a:noFill/>
          <a:ln/>
        </p:spPr>
        <p:txBody>
          <a:bodyPr wrap="square" lIns="0" tIns="0" rIns="0" bIns="0" rtlCol="0" anchor="ctr"/>
          <a:lstStyle/>
          <a:p>
            <a:pPr marL="0" indent="0" algn="ctr">
              <a:buNone/>
            </a:pPr>
            <a:r>
              <a:rPr lang="en-US" sz="2400" b="1" dirty="0">
                <a:solidFill>
                  <a:srgbClr val="FFD400"/>
                </a:solidFill>
                <a:latin typeface="Cambria" pitchFamily="34" charset="0"/>
                <a:ea typeface="Cambria" pitchFamily="34" charset="-122"/>
                <a:cs typeface="Cambria" pitchFamily="34" charset="-120"/>
              </a:rPr>
              <a:t>4</a:t>
            </a:r>
            <a:endParaRPr lang="en-US" sz="2400" dirty="0"/>
          </a:p>
        </p:txBody>
      </p:sp>
      <p:sp>
        <p:nvSpPr>
          <p:cNvPr id="21" name="Shape 19"/>
          <p:cNvSpPr/>
          <p:nvPr/>
        </p:nvSpPr>
        <p:spPr>
          <a:xfrm>
            <a:off x="8723376" y="2514600"/>
            <a:ext cx="713232" cy="0"/>
          </a:xfrm>
          <a:prstGeom prst="line">
            <a:avLst/>
          </a:prstGeom>
          <a:noFill/>
          <a:ln w="25400">
            <a:solidFill>
              <a:srgbClr val="39424F"/>
            </a:solidFill>
            <a:prstDash val="solid"/>
          </a:ln>
        </p:spPr>
      </p:sp>
      <p:sp>
        <p:nvSpPr>
          <p:cNvPr id="22" name="Text 20"/>
          <p:cNvSpPr txBox="1"/>
          <p:nvPr/>
        </p:nvSpPr>
        <p:spPr>
          <a:xfrm>
            <a:off x="7214616" y="315468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Prototipar</a:t>
            </a:r>
            <a:endParaRPr lang="en-US" sz="1500" dirty="0"/>
          </a:p>
        </p:txBody>
      </p:sp>
      <p:sp>
        <p:nvSpPr>
          <p:cNvPr id="23" name="Text 21"/>
          <p:cNvSpPr txBox="1"/>
          <p:nvPr/>
        </p:nvSpPr>
        <p:spPr>
          <a:xfrm>
            <a:off x="7287768" y="3566160"/>
            <a:ext cx="2057400" cy="1463040"/>
          </a:xfrm>
          <a:prstGeom prst="rect">
            <a:avLst/>
          </a:prstGeom>
          <a:noFill/>
          <a:ln/>
        </p:spPr>
        <p:txBody>
          <a:bodyPr wrap="square" lIns="0" tIns="0" rIns="0" bIns="0" rtlCol="0" anchor="ctr"/>
          <a:lstStyle/>
          <a:p>
            <a:pPr marL="0" indent="0" algn="ctr">
              <a:lnSpc>
                <a:spcPct val="125000"/>
              </a:lnSpc>
              <a:buNone/>
            </a:pPr>
            <a:r>
              <a:rPr lang="en-US" sz="1150" dirty="0">
                <a:solidFill>
                  <a:srgbClr val="B9C2CE"/>
                </a:solidFill>
                <a:latin typeface="Calibri" pitchFamily="34" charset="0"/>
                <a:ea typeface="Calibri" pitchFamily="34" charset="-122"/>
                <a:cs typeface="Calibri" pitchFamily="34" charset="-120"/>
              </a:rPr>
              <a:t>De maqueta a prototipo navegable en Flutter</a:t>
            </a:r>
            <a:endParaRPr lang="en-US" sz="1150" dirty="0"/>
          </a:p>
        </p:txBody>
      </p:sp>
      <p:sp>
        <p:nvSpPr>
          <p:cNvPr id="24" name="Shape 22"/>
          <p:cNvSpPr/>
          <p:nvPr/>
        </p:nvSpPr>
        <p:spPr>
          <a:xfrm>
            <a:off x="10122408" y="2103120"/>
            <a:ext cx="822960" cy="822960"/>
          </a:xfrm>
          <a:prstGeom prst="ellipse">
            <a:avLst/>
          </a:prstGeom>
          <a:solidFill>
            <a:srgbClr val="FFD400"/>
          </a:solidFill>
          <a:ln w="25400">
            <a:solidFill>
              <a:srgbClr val="FFD400"/>
            </a:solidFill>
            <a:prstDash val="solid"/>
          </a:ln>
        </p:spPr>
      </p:sp>
      <p:sp>
        <p:nvSpPr>
          <p:cNvPr id="25" name="Text 23"/>
          <p:cNvSpPr txBox="1"/>
          <p:nvPr/>
        </p:nvSpPr>
        <p:spPr>
          <a:xfrm>
            <a:off x="10122408" y="2103120"/>
            <a:ext cx="822960" cy="822960"/>
          </a:xfrm>
          <a:prstGeom prst="rect">
            <a:avLst/>
          </a:prstGeom>
          <a:noFill/>
          <a:ln/>
        </p:spPr>
        <p:txBody>
          <a:bodyPr wrap="square" lIns="0" tIns="0" rIns="0" bIns="0" rtlCol="0" anchor="ctr"/>
          <a:lstStyle/>
          <a:p>
            <a:pPr marL="0" indent="0" algn="ctr">
              <a:buNone/>
            </a:pPr>
            <a:r>
              <a:rPr lang="en-US" sz="2400" b="1" dirty="0">
                <a:solidFill>
                  <a:srgbClr val="0B0F14"/>
                </a:solidFill>
                <a:latin typeface="Cambria" pitchFamily="34" charset="0"/>
                <a:ea typeface="Cambria" pitchFamily="34" charset="-122"/>
                <a:cs typeface="Cambria" pitchFamily="34" charset="-120"/>
              </a:rPr>
              <a:t>5</a:t>
            </a:r>
            <a:endParaRPr lang="en-US" sz="2400" dirty="0"/>
          </a:p>
        </p:txBody>
      </p:sp>
      <p:sp>
        <p:nvSpPr>
          <p:cNvPr id="26" name="Text 24"/>
          <p:cNvSpPr txBox="1"/>
          <p:nvPr/>
        </p:nvSpPr>
        <p:spPr>
          <a:xfrm>
            <a:off x="9436608" y="3154680"/>
            <a:ext cx="21945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Evaluar</a:t>
            </a:r>
            <a:endParaRPr lang="en-US" sz="1500" dirty="0"/>
          </a:p>
        </p:txBody>
      </p:sp>
      <p:sp>
        <p:nvSpPr>
          <p:cNvPr id="27" name="Text 25"/>
          <p:cNvSpPr txBox="1"/>
          <p:nvPr/>
        </p:nvSpPr>
        <p:spPr>
          <a:xfrm>
            <a:off x="9509760" y="3566160"/>
            <a:ext cx="2057400" cy="1463040"/>
          </a:xfrm>
          <a:prstGeom prst="rect">
            <a:avLst/>
          </a:prstGeom>
          <a:noFill/>
          <a:ln/>
        </p:spPr>
        <p:txBody>
          <a:bodyPr wrap="square" lIns="0" tIns="0" rIns="0" bIns="0" rtlCol="0" anchor="ctr"/>
          <a:lstStyle/>
          <a:p>
            <a:pPr marL="0" indent="0" algn="ctr">
              <a:lnSpc>
                <a:spcPct val="125000"/>
              </a:lnSpc>
              <a:buNone/>
            </a:pPr>
            <a:r>
              <a:rPr lang="en-US" sz="1150" dirty="0">
                <a:solidFill>
                  <a:srgbClr val="B9C2CE"/>
                </a:solidFill>
                <a:latin typeface="Calibri" pitchFamily="34" charset="0"/>
                <a:ea typeface="Calibri" pitchFamily="34" charset="-122"/>
                <a:cs typeface="Calibri" pitchFamily="34" charset="-120"/>
              </a:rPr>
              <a:t>Heurísticas de Nielsen + protocolo SUS</a:t>
            </a:r>
            <a:endParaRPr lang="en-US" sz="1150" dirty="0"/>
          </a:p>
        </p:txBody>
      </p:sp>
      <p:sp>
        <p:nvSpPr>
          <p:cNvPr id="28" name="Shape 26"/>
          <p:cNvSpPr/>
          <p:nvPr/>
        </p:nvSpPr>
        <p:spPr>
          <a:xfrm>
            <a:off x="548640" y="5349240"/>
            <a:ext cx="11064240" cy="914400"/>
          </a:xfrm>
          <a:prstGeom prst="roundRect">
            <a:avLst>
              <a:gd name="adj" fmla="val 10000"/>
            </a:avLst>
          </a:prstGeom>
          <a:solidFill>
            <a:srgbClr val="151A21"/>
          </a:solidFill>
          <a:ln w="12700">
            <a:solidFill>
              <a:srgbClr val="39424F"/>
            </a:solidFill>
            <a:prstDash val="solid"/>
          </a:ln>
        </p:spPr>
      </p:sp>
      <p:sp>
        <p:nvSpPr>
          <p:cNvPr id="29" name="Text 27"/>
          <p:cNvSpPr txBox="1"/>
          <p:nvPr/>
        </p:nvSpPr>
        <p:spPr>
          <a:xfrm>
            <a:off x="868680" y="5486400"/>
            <a:ext cx="10424160" cy="640080"/>
          </a:xfrm>
          <a:prstGeom prst="rect">
            <a:avLst/>
          </a:prstGeom>
          <a:noFill/>
          <a:ln/>
        </p:spPr>
        <p:txBody>
          <a:bodyPr wrap="square" lIns="0" tIns="0" rIns="0" bIns="0" rtlCol="0" anchor="ctr"/>
          <a:lstStyle/>
          <a:p>
            <a:pPr marL="0" indent="0">
              <a:lnSpc>
                <a:spcPct val="125000"/>
              </a:lnSpc>
              <a:buNone/>
            </a:pPr>
            <a:r>
              <a:rPr lang="en-US" sz="1300" dirty="0">
                <a:solidFill>
                  <a:srgbClr val="B9C2CE"/>
                </a:solidFill>
                <a:latin typeface="Calibri" pitchFamily="34" charset="0"/>
                <a:ea typeface="Calibri" pitchFamily="34" charset="-122"/>
                <a:cs typeface="Calibri" pitchFamily="34" charset="-120"/>
              </a:rPr>
              <a:t>De las cinco, la evaluación tiene DOS niveles: una heurística ya ejecutada por el equipo, y un protocolo con usuarios reales (escala SUS) formulado y pendiente de ejecutarse.</a:t>
            </a:r>
            <a:endParaRPr lang="en-US" sz="1300" dirty="0"/>
          </a:p>
        </p:txBody>
      </p:sp>
      <p:sp>
        <p:nvSpPr>
          <p:cNvPr id="30" name="Text 28"/>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CÓMO SE ORGANIZÓ EL TRABAJO</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Cuatro capas, cada una con un único trabajo</a:t>
            </a:r>
            <a:endParaRPr lang="en-US" sz="3200" dirty="0"/>
          </a:p>
        </p:txBody>
      </p:sp>
      <p:sp>
        <p:nvSpPr>
          <p:cNvPr id="4" name="Shape 2"/>
          <p:cNvSpPr/>
          <p:nvPr/>
        </p:nvSpPr>
        <p:spPr>
          <a:xfrm>
            <a:off x="548640" y="1828800"/>
            <a:ext cx="11064240" cy="868680"/>
          </a:xfrm>
          <a:prstGeom prst="roundRect">
            <a:avLst>
              <a:gd name="adj" fmla="val 10526"/>
            </a:avLst>
          </a:prstGeom>
          <a:solidFill>
            <a:srgbClr val="151A21"/>
          </a:solidFill>
          <a:ln w="12700">
            <a:solidFill>
              <a:srgbClr val="39424F"/>
            </a:solidFill>
            <a:prstDash val="solid"/>
          </a:ln>
        </p:spPr>
      </p:sp>
      <p:sp>
        <p:nvSpPr>
          <p:cNvPr id="5" name="Shape 3"/>
          <p:cNvSpPr/>
          <p:nvPr/>
        </p:nvSpPr>
        <p:spPr>
          <a:xfrm>
            <a:off x="548640" y="1828800"/>
            <a:ext cx="91440" cy="868680"/>
          </a:xfrm>
          <a:prstGeom prst="rect">
            <a:avLst/>
          </a:prstGeom>
          <a:solidFill>
            <a:srgbClr val="FFD400"/>
          </a:solidFill>
          <a:ln/>
        </p:spPr>
      </p:sp>
      <p:sp>
        <p:nvSpPr>
          <p:cNvPr id="6" name="Text 4"/>
          <p:cNvSpPr txBox="1"/>
          <p:nvPr/>
        </p:nvSpPr>
        <p:spPr>
          <a:xfrm>
            <a:off x="914400" y="1901952"/>
            <a:ext cx="1920240" cy="731520"/>
          </a:xfrm>
          <a:prstGeom prst="rect">
            <a:avLst/>
          </a:prstGeom>
          <a:noFill/>
          <a:ln/>
        </p:spPr>
        <p:txBody>
          <a:bodyPr wrap="square" lIns="0" tIns="0" rIns="0" bIns="0" rtlCol="0" anchor="ctr"/>
          <a:lstStyle/>
          <a:p>
            <a:pPr marL="0" indent="0">
              <a:buNone/>
            </a:pPr>
            <a:r>
              <a:rPr lang="en-US" sz="1800" b="1" dirty="0">
                <a:solidFill>
                  <a:srgbClr val="FFD400"/>
                </a:solidFill>
                <a:latin typeface="Consolas" pitchFamily="34" charset="0"/>
                <a:ea typeface="Consolas" pitchFamily="34" charset="-122"/>
                <a:cs typeface="Consolas" pitchFamily="34" charset="-120"/>
              </a:rPr>
              <a:t>core/</a:t>
            </a:r>
            <a:endParaRPr lang="en-US" sz="1800" dirty="0"/>
          </a:p>
        </p:txBody>
      </p:sp>
      <p:sp>
        <p:nvSpPr>
          <p:cNvPr id="7" name="Text 5"/>
          <p:cNvSpPr txBox="1"/>
          <p:nvPr/>
        </p:nvSpPr>
        <p:spPr>
          <a:xfrm>
            <a:off x="2926080" y="1901952"/>
            <a:ext cx="841248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Tema visual, accesibilidad (voz + vibración + anuncio), comandos de voz</a:t>
            </a:r>
            <a:endParaRPr lang="en-US" sz="1400" dirty="0"/>
          </a:p>
        </p:txBody>
      </p:sp>
      <p:sp>
        <p:nvSpPr>
          <p:cNvPr id="8" name="Shape 6"/>
          <p:cNvSpPr/>
          <p:nvPr/>
        </p:nvSpPr>
        <p:spPr>
          <a:xfrm>
            <a:off x="548640" y="2852928"/>
            <a:ext cx="11064240" cy="868680"/>
          </a:xfrm>
          <a:prstGeom prst="roundRect">
            <a:avLst>
              <a:gd name="adj" fmla="val 10526"/>
            </a:avLst>
          </a:prstGeom>
          <a:solidFill>
            <a:srgbClr val="151A21"/>
          </a:solidFill>
          <a:ln w="12700">
            <a:solidFill>
              <a:srgbClr val="39424F"/>
            </a:solidFill>
            <a:prstDash val="solid"/>
          </a:ln>
        </p:spPr>
      </p:sp>
      <p:sp>
        <p:nvSpPr>
          <p:cNvPr id="9" name="Shape 7"/>
          <p:cNvSpPr/>
          <p:nvPr/>
        </p:nvSpPr>
        <p:spPr>
          <a:xfrm>
            <a:off x="548640" y="2852928"/>
            <a:ext cx="91440" cy="868680"/>
          </a:xfrm>
          <a:prstGeom prst="rect">
            <a:avLst/>
          </a:prstGeom>
          <a:solidFill>
            <a:srgbClr val="4DD0FF"/>
          </a:solidFill>
          <a:ln/>
        </p:spPr>
      </p:sp>
      <p:sp>
        <p:nvSpPr>
          <p:cNvPr id="10" name="Text 8"/>
          <p:cNvSpPr txBox="1"/>
          <p:nvPr/>
        </p:nvSpPr>
        <p:spPr>
          <a:xfrm>
            <a:off x="914400" y="2926080"/>
            <a:ext cx="1920240" cy="731520"/>
          </a:xfrm>
          <a:prstGeom prst="rect">
            <a:avLst/>
          </a:prstGeom>
          <a:noFill/>
          <a:ln/>
        </p:spPr>
        <p:txBody>
          <a:bodyPr wrap="square" lIns="0" tIns="0" rIns="0" bIns="0" rtlCol="0" anchor="ctr"/>
          <a:lstStyle/>
          <a:p>
            <a:pPr marL="0" indent="0">
              <a:buNone/>
            </a:pPr>
            <a:r>
              <a:rPr lang="en-US" sz="1800" b="1" dirty="0">
                <a:solidFill>
                  <a:srgbClr val="4DD0FF"/>
                </a:solidFill>
                <a:latin typeface="Consolas" pitchFamily="34" charset="0"/>
                <a:ea typeface="Consolas" pitchFamily="34" charset="-122"/>
                <a:cs typeface="Consolas" pitchFamily="34" charset="-120"/>
              </a:rPr>
              <a:t>data/</a:t>
            </a:r>
            <a:endParaRPr lang="en-US" sz="1800" dirty="0"/>
          </a:p>
        </p:txBody>
      </p:sp>
      <p:sp>
        <p:nvSpPr>
          <p:cNvPr id="11" name="Text 9"/>
          <p:cNvSpPr txBox="1"/>
          <p:nvPr/>
        </p:nvSpPr>
        <p:spPr>
          <a:xfrm>
            <a:off x="2926080" y="2926080"/>
            <a:ext cx="841248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Modelos y servicios — cada paquete externo vive envuelto en un único archivo</a:t>
            </a:r>
            <a:endParaRPr lang="en-US" sz="1400" dirty="0"/>
          </a:p>
        </p:txBody>
      </p:sp>
      <p:sp>
        <p:nvSpPr>
          <p:cNvPr id="12" name="Shape 10"/>
          <p:cNvSpPr/>
          <p:nvPr/>
        </p:nvSpPr>
        <p:spPr>
          <a:xfrm>
            <a:off x="548640" y="3877056"/>
            <a:ext cx="11064240" cy="868680"/>
          </a:xfrm>
          <a:prstGeom prst="roundRect">
            <a:avLst>
              <a:gd name="adj" fmla="val 10526"/>
            </a:avLst>
          </a:prstGeom>
          <a:solidFill>
            <a:srgbClr val="151A21"/>
          </a:solidFill>
          <a:ln w="12700">
            <a:solidFill>
              <a:srgbClr val="39424F"/>
            </a:solidFill>
            <a:prstDash val="solid"/>
          </a:ln>
        </p:spPr>
      </p:sp>
      <p:sp>
        <p:nvSpPr>
          <p:cNvPr id="13" name="Shape 11"/>
          <p:cNvSpPr/>
          <p:nvPr/>
        </p:nvSpPr>
        <p:spPr>
          <a:xfrm>
            <a:off x="548640" y="3877056"/>
            <a:ext cx="91440" cy="868680"/>
          </a:xfrm>
          <a:prstGeom prst="rect">
            <a:avLst/>
          </a:prstGeom>
          <a:solidFill>
            <a:srgbClr val="5BE39A"/>
          </a:solidFill>
          <a:ln/>
        </p:spPr>
      </p:sp>
      <p:sp>
        <p:nvSpPr>
          <p:cNvPr id="14" name="Text 12"/>
          <p:cNvSpPr txBox="1"/>
          <p:nvPr/>
        </p:nvSpPr>
        <p:spPr>
          <a:xfrm>
            <a:off x="914400" y="3950208"/>
            <a:ext cx="1920240" cy="731520"/>
          </a:xfrm>
          <a:prstGeom prst="rect">
            <a:avLst/>
          </a:prstGeom>
          <a:noFill/>
          <a:ln/>
        </p:spPr>
        <p:txBody>
          <a:bodyPr wrap="square" lIns="0" tIns="0" rIns="0" bIns="0" rtlCol="0" anchor="ctr"/>
          <a:lstStyle/>
          <a:p>
            <a:pPr marL="0" indent="0">
              <a:buNone/>
            </a:pPr>
            <a:r>
              <a:rPr lang="en-US" sz="1800" b="1" dirty="0">
                <a:solidFill>
                  <a:srgbClr val="5BE39A"/>
                </a:solidFill>
                <a:latin typeface="Consolas" pitchFamily="34" charset="0"/>
                <a:ea typeface="Consolas" pitchFamily="34" charset="-122"/>
                <a:cs typeface="Consolas" pitchFamily="34" charset="-120"/>
              </a:rPr>
              <a:t>features/</a:t>
            </a:r>
            <a:endParaRPr lang="en-US" sz="1800" dirty="0"/>
          </a:p>
        </p:txBody>
      </p:sp>
      <p:sp>
        <p:nvSpPr>
          <p:cNvPr id="15" name="Text 13"/>
          <p:cNvSpPr txBox="1"/>
          <p:nvPr/>
        </p:nvSpPr>
        <p:spPr>
          <a:xfrm>
            <a:off x="2926080" y="3950208"/>
            <a:ext cx="841248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Una carpeta por pantalla: la vista dibuja, el controlador decide</a:t>
            </a:r>
            <a:endParaRPr lang="en-US" sz="1400" dirty="0"/>
          </a:p>
        </p:txBody>
      </p:sp>
      <p:sp>
        <p:nvSpPr>
          <p:cNvPr id="16" name="Shape 14"/>
          <p:cNvSpPr/>
          <p:nvPr/>
        </p:nvSpPr>
        <p:spPr>
          <a:xfrm>
            <a:off x="548640" y="4901184"/>
            <a:ext cx="11064240" cy="868680"/>
          </a:xfrm>
          <a:prstGeom prst="roundRect">
            <a:avLst>
              <a:gd name="adj" fmla="val 10526"/>
            </a:avLst>
          </a:prstGeom>
          <a:solidFill>
            <a:srgbClr val="151A21"/>
          </a:solidFill>
          <a:ln w="12700">
            <a:solidFill>
              <a:srgbClr val="39424F"/>
            </a:solidFill>
            <a:prstDash val="solid"/>
          </a:ln>
        </p:spPr>
      </p:sp>
      <p:sp>
        <p:nvSpPr>
          <p:cNvPr id="17" name="Shape 15"/>
          <p:cNvSpPr/>
          <p:nvPr/>
        </p:nvSpPr>
        <p:spPr>
          <a:xfrm>
            <a:off x="548640" y="4901184"/>
            <a:ext cx="91440" cy="868680"/>
          </a:xfrm>
          <a:prstGeom prst="rect">
            <a:avLst/>
          </a:prstGeom>
          <a:solidFill>
            <a:srgbClr val="B9C2CE"/>
          </a:solidFill>
          <a:ln/>
        </p:spPr>
      </p:sp>
      <p:sp>
        <p:nvSpPr>
          <p:cNvPr id="18" name="Text 16"/>
          <p:cNvSpPr txBox="1"/>
          <p:nvPr/>
        </p:nvSpPr>
        <p:spPr>
          <a:xfrm>
            <a:off x="914400" y="4974336"/>
            <a:ext cx="1920240" cy="731520"/>
          </a:xfrm>
          <a:prstGeom prst="rect">
            <a:avLst/>
          </a:prstGeom>
          <a:noFill/>
          <a:ln/>
        </p:spPr>
        <p:txBody>
          <a:bodyPr wrap="square" lIns="0" tIns="0" rIns="0" bIns="0" rtlCol="0" anchor="ctr"/>
          <a:lstStyle/>
          <a:p>
            <a:pPr marL="0" indent="0">
              <a:buNone/>
            </a:pPr>
            <a:r>
              <a:rPr lang="en-US" sz="1800" b="1" dirty="0">
                <a:solidFill>
                  <a:srgbClr val="B9C2CE"/>
                </a:solidFill>
                <a:latin typeface="Consolas" pitchFamily="34" charset="0"/>
                <a:ea typeface="Consolas" pitchFamily="34" charset="-122"/>
                <a:cs typeface="Consolas" pitchFamily="34" charset="-120"/>
              </a:rPr>
              <a:t>shared/</a:t>
            </a:r>
            <a:endParaRPr lang="en-US" sz="1800" dirty="0"/>
          </a:p>
        </p:txBody>
      </p:sp>
      <p:sp>
        <p:nvSpPr>
          <p:cNvPr id="19" name="Text 17"/>
          <p:cNvSpPr txBox="1"/>
          <p:nvPr/>
        </p:nvSpPr>
        <p:spPr>
          <a:xfrm>
            <a:off x="2926080" y="4974336"/>
            <a:ext cx="841248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Botones y tarjetas reutilizados en varias pantallas</a:t>
            </a:r>
            <a:endParaRPr lang="en-US" sz="1400" dirty="0"/>
          </a:p>
        </p:txBody>
      </p:sp>
      <p:sp>
        <p:nvSpPr>
          <p:cNvPr id="20" name="Text 18"/>
          <p:cNvSpPr txBox="1"/>
          <p:nvPr/>
        </p:nvSpPr>
        <p:spPr>
          <a:xfrm>
            <a:off x="548640" y="6035040"/>
            <a:ext cx="11064240" cy="457200"/>
          </a:xfrm>
          <a:prstGeom prst="rect">
            <a:avLst/>
          </a:prstGeom>
          <a:noFill/>
          <a:ln/>
        </p:spPr>
        <p:txBody>
          <a:bodyPr wrap="square" lIns="0" tIns="0" rIns="0" bIns="0" rtlCol="0" anchor="ctr"/>
          <a:lstStyle/>
          <a:p>
            <a:pPr marL="0" indent="0" algn="ctr">
              <a:buNone/>
            </a:pPr>
            <a:r>
              <a:rPr lang="en-US" sz="1300" i="1" dirty="0">
                <a:solidFill>
                  <a:srgbClr val="B9C2CE"/>
                </a:solidFill>
                <a:latin typeface="Calibri" pitchFamily="34" charset="0"/>
                <a:ea typeface="Calibri" pitchFamily="34" charset="-122"/>
                <a:cs typeface="Calibri" pitchFamily="34" charset="-120"/>
              </a:rPr>
              <a:t>Regla que no se negocia: ningún widget llama a un paquete externo directamente.</a:t>
            </a:r>
            <a:endParaRPr lang="en-US" sz="1300" dirty="0"/>
          </a:p>
        </p:txBody>
      </p:sp>
      <p:sp>
        <p:nvSpPr>
          <p:cNvPr id="21" name="Text 19"/>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STACK TECNOLÓGICO</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Herramientas y para qué se usó cada una</a:t>
            </a:r>
            <a:endParaRPr lang="en-US" sz="3200" dirty="0"/>
          </a:p>
        </p:txBody>
      </p:sp>
      <p:sp>
        <p:nvSpPr>
          <p:cNvPr id="4" name="Text 2"/>
          <p:cNvSpPr txBox="1"/>
          <p:nvPr/>
        </p:nvSpPr>
        <p:spPr>
          <a:xfrm>
            <a:off x="548640" y="1874520"/>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Flutter + Dart</a:t>
            </a:r>
            <a:endParaRPr lang="en-US" sz="1450" dirty="0"/>
          </a:p>
        </p:txBody>
      </p:sp>
      <p:sp>
        <p:nvSpPr>
          <p:cNvPr id="5" name="Text 3"/>
          <p:cNvSpPr txBox="1"/>
          <p:nvPr/>
        </p:nvSpPr>
        <p:spPr>
          <a:xfrm>
            <a:off x="548640" y="2221992"/>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Framework y lenguaje — una sola base de código para Android e iOS</a:t>
            </a:r>
            <a:endParaRPr lang="en-US" sz="1250" dirty="0"/>
          </a:p>
        </p:txBody>
      </p:sp>
      <p:sp>
        <p:nvSpPr>
          <p:cNvPr id="6" name="Text 4"/>
          <p:cNvSpPr txBox="1"/>
          <p:nvPr/>
        </p:nvSpPr>
        <p:spPr>
          <a:xfrm>
            <a:off x="548640" y="2953512"/>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provider</a:t>
            </a:r>
            <a:endParaRPr lang="en-US" sz="1450" dirty="0"/>
          </a:p>
        </p:txBody>
      </p:sp>
      <p:sp>
        <p:nvSpPr>
          <p:cNvPr id="7" name="Text 5"/>
          <p:cNvSpPr txBox="1"/>
          <p:nvPr/>
        </p:nvSpPr>
        <p:spPr>
          <a:xfrm>
            <a:off x="548640" y="3300984"/>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Comparte el estado (ajustes) entre toda la app, sin pasarlo pantalla por pantalla</a:t>
            </a:r>
            <a:endParaRPr lang="en-US" sz="1250" dirty="0"/>
          </a:p>
        </p:txBody>
      </p:sp>
      <p:sp>
        <p:nvSpPr>
          <p:cNvPr id="8" name="Text 6"/>
          <p:cNvSpPr txBox="1"/>
          <p:nvPr/>
        </p:nvSpPr>
        <p:spPr>
          <a:xfrm>
            <a:off x="548640" y="4032504"/>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flutter_tts</a:t>
            </a:r>
            <a:endParaRPr lang="en-US" sz="1450" dirty="0"/>
          </a:p>
        </p:txBody>
      </p:sp>
      <p:sp>
        <p:nvSpPr>
          <p:cNvPr id="9" name="Text 7"/>
          <p:cNvSpPr txBox="1"/>
          <p:nvPr/>
        </p:nvSpPr>
        <p:spPr>
          <a:xfrm>
            <a:off x="548640" y="4379976"/>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Síntesis de voz (texto → voz), con el motor nativo del sistema</a:t>
            </a:r>
            <a:endParaRPr lang="en-US" sz="1250" dirty="0"/>
          </a:p>
        </p:txBody>
      </p:sp>
      <p:sp>
        <p:nvSpPr>
          <p:cNvPr id="10" name="Text 8"/>
          <p:cNvSpPr txBox="1"/>
          <p:nvPr/>
        </p:nvSpPr>
        <p:spPr>
          <a:xfrm>
            <a:off x="548640" y="5111496"/>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speech_to_text</a:t>
            </a:r>
            <a:endParaRPr lang="en-US" sz="1450" dirty="0"/>
          </a:p>
        </p:txBody>
      </p:sp>
      <p:sp>
        <p:nvSpPr>
          <p:cNvPr id="11" name="Text 9"/>
          <p:cNvSpPr txBox="1"/>
          <p:nvPr/>
        </p:nvSpPr>
        <p:spPr>
          <a:xfrm>
            <a:off x="548640" y="5458968"/>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Reconocimiento de voz (voz → texto), con el reconocedor nativo de Android</a:t>
            </a:r>
            <a:endParaRPr lang="en-US" sz="1250" dirty="0"/>
          </a:p>
        </p:txBody>
      </p:sp>
      <p:sp>
        <p:nvSpPr>
          <p:cNvPr id="12" name="Text 10"/>
          <p:cNvSpPr txBox="1"/>
          <p:nvPr/>
        </p:nvSpPr>
        <p:spPr>
          <a:xfrm>
            <a:off x="6172200" y="1874520"/>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camera + google_mlkit</a:t>
            </a:r>
            <a:endParaRPr lang="en-US" sz="1450" dirty="0"/>
          </a:p>
        </p:txBody>
      </p:sp>
      <p:sp>
        <p:nvSpPr>
          <p:cNvPr id="13" name="Text 11"/>
          <p:cNvSpPr txBox="1"/>
          <p:nvPr/>
        </p:nvSpPr>
        <p:spPr>
          <a:xfrm>
            <a:off x="6172200" y="2221992"/>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Acceso a la cámara y reconocimiento óptico de texto (OCR), en el dispositivo</a:t>
            </a:r>
            <a:endParaRPr lang="en-US" sz="1250" dirty="0"/>
          </a:p>
        </p:txBody>
      </p:sp>
      <p:sp>
        <p:nvSpPr>
          <p:cNvPr id="14" name="Text 12"/>
          <p:cNvSpPr txBox="1"/>
          <p:nvPr/>
        </p:nvSpPr>
        <p:spPr>
          <a:xfrm>
            <a:off x="6172200" y="2953512"/>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http + html</a:t>
            </a:r>
            <a:endParaRPr lang="en-US" sz="1450" dirty="0"/>
          </a:p>
        </p:txBody>
      </p:sp>
      <p:sp>
        <p:nvSpPr>
          <p:cNvPr id="15" name="Text 13"/>
          <p:cNvSpPr txBox="1"/>
          <p:nvPr/>
        </p:nvSpPr>
        <p:spPr>
          <a:xfrm>
            <a:off x="6172200" y="3300984"/>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Descarga y analiza páginas web para el lector adaptativo</a:t>
            </a:r>
            <a:endParaRPr lang="en-US" sz="1250" dirty="0"/>
          </a:p>
        </p:txBody>
      </p:sp>
      <p:sp>
        <p:nvSpPr>
          <p:cNvPr id="16" name="Text 14"/>
          <p:cNvSpPr txBox="1"/>
          <p:nvPr/>
        </p:nvSpPr>
        <p:spPr>
          <a:xfrm>
            <a:off x="6172200" y="4032504"/>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shared_preferences</a:t>
            </a:r>
            <a:endParaRPr lang="en-US" sz="1450" dirty="0"/>
          </a:p>
        </p:txBody>
      </p:sp>
      <p:sp>
        <p:nvSpPr>
          <p:cNvPr id="17" name="Text 15"/>
          <p:cNvSpPr txBox="1"/>
          <p:nvPr/>
        </p:nvSpPr>
        <p:spPr>
          <a:xfrm>
            <a:off x="6172200" y="4379976"/>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Guarda los ajustes del usuario en el propio celular</a:t>
            </a:r>
            <a:endParaRPr lang="en-US" sz="1250" dirty="0"/>
          </a:p>
        </p:txBody>
      </p:sp>
      <p:sp>
        <p:nvSpPr>
          <p:cNvPr id="18" name="Text 16"/>
          <p:cNvSpPr txBox="1"/>
          <p:nvPr/>
        </p:nvSpPr>
        <p:spPr>
          <a:xfrm>
            <a:off x="6172200" y="5111496"/>
            <a:ext cx="5303520" cy="365760"/>
          </a:xfrm>
          <a:prstGeom prst="rect">
            <a:avLst/>
          </a:prstGeom>
          <a:noFill/>
          <a:ln/>
        </p:spPr>
        <p:txBody>
          <a:bodyPr wrap="square" lIns="0" tIns="0" rIns="0" bIns="0" rtlCol="0" anchor="ctr"/>
          <a:lstStyle/>
          <a:p>
            <a:pPr marL="0" indent="0">
              <a:buNone/>
            </a:pPr>
            <a:r>
              <a:rPr lang="en-US" sz="1450" b="1" dirty="0">
                <a:solidFill>
                  <a:srgbClr val="FFD400"/>
                </a:solidFill>
                <a:latin typeface="Consolas" pitchFamily="34" charset="0"/>
                <a:ea typeface="Consolas" pitchFamily="34" charset="-122"/>
                <a:cs typeface="Consolas" pitchFamily="34" charset="-120"/>
              </a:rPr>
              <a:t>Android Studio / VS Code</a:t>
            </a:r>
            <a:endParaRPr lang="en-US" sz="1450" dirty="0"/>
          </a:p>
        </p:txBody>
      </p:sp>
      <p:sp>
        <p:nvSpPr>
          <p:cNvPr id="19" name="Text 17"/>
          <p:cNvSpPr txBox="1"/>
          <p:nvPr/>
        </p:nvSpPr>
        <p:spPr>
          <a:xfrm>
            <a:off x="6172200" y="5458968"/>
            <a:ext cx="5303520" cy="640080"/>
          </a:xfrm>
          <a:prstGeom prst="rect">
            <a:avLst/>
          </a:prstGeom>
          <a:noFill/>
          <a:ln/>
        </p:spPr>
        <p:txBody>
          <a:bodyPr wrap="square" lIns="0" tIns="0" rIns="0" bIns="0" rtlCol="0" anchor="ctr"/>
          <a:lstStyle/>
          <a:p>
            <a:pPr marL="0" indent="0">
              <a:lnSpc>
                <a:spcPct val="120000"/>
              </a:lnSpc>
              <a:buNone/>
            </a:pPr>
            <a:r>
              <a:rPr lang="en-US" sz="1250" dirty="0">
                <a:solidFill>
                  <a:srgbClr val="B9C2CE"/>
                </a:solidFill>
                <a:latin typeface="Calibri" pitchFamily="34" charset="0"/>
                <a:ea typeface="Calibri" pitchFamily="34" charset="-122"/>
                <a:cs typeface="Calibri" pitchFamily="34" charset="-120"/>
              </a:rPr>
              <a:t>Entorno de desarrollo, SDK de Android y edición de código</a:t>
            </a:r>
            <a:endParaRPr lang="en-US" sz="1250" dirty="0"/>
          </a:p>
        </p:txBody>
      </p:sp>
      <p:sp>
        <p:nvSpPr>
          <p:cNvPr id="20" name="Text 18"/>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RESPUESTA TÉCNICA</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¿Qué tecnología usamos para el comando de voz?</a:t>
            </a:r>
            <a:endParaRPr lang="en-US" sz="3200" dirty="0"/>
          </a:p>
        </p:txBody>
      </p:sp>
      <p:sp>
        <p:nvSpPr>
          <p:cNvPr id="4" name="Shape 2"/>
          <p:cNvSpPr/>
          <p:nvPr/>
        </p:nvSpPr>
        <p:spPr>
          <a:xfrm>
            <a:off x="548640" y="1828800"/>
            <a:ext cx="2606040" cy="2377440"/>
          </a:xfrm>
          <a:prstGeom prst="roundRect">
            <a:avLst>
              <a:gd name="adj" fmla="val 3846"/>
            </a:avLst>
          </a:prstGeom>
          <a:solidFill>
            <a:srgbClr val="1F2630"/>
          </a:solidFill>
          <a:ln w="12700">
            <a:solidFill>
              <a:srgbClr val="39424F"/>
            </a:solidFill>
            <a:prstDash val="solid"/>
          </a:ln>
        </p:spPr>
      </p:sp>
      <p:sp>
        <p:nvSpPr>
          <p:cNvPr id="5" name="Text 3"/>
          <p:cNvSpPr txBox="1"/>
          <p:nvPr/>
        </p:nvSpPr>
        <p:spPr>
          <a:xfrm>
            <a:off x="548640" y="1965960"/>
            <a:ext cx="2606040" cy="640080"/>
          </a:xfrm>
          <a:prstGeom prst="rect">
            <a:avLst/>
          </a:prstGeom>
          <a:noFill/>
          <a:ln/>
        </p:spPr>
        <p:txBody>
          <a:bodyPr wrap="square" lIns="0" tIns="0" rIns="0" bIns="0" rtlCol="0" anchor="ctr"/>
          <a:lstStyle/>
          <a:p>
            <a:pPr marL="0" indent="0" algn="ctr">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6" name="Text 4"/>
          <p:cNvSpPr txBox="1"/>
          <p:nvPr/>
        </p:nvSpPr>
        <p:spPr>
          <a:xfrm>
            <a:off x="685800" y="2651760"/>
            <a:ext cx="23317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El usuario habla</a:t>
            </a:r>
            <a:endParaRPr lang="en-US" sz="1300" dirty="0"/>
          </a:p>
        </p:txBody>
      </p:sp>
      <p:sp>
        <p:nvSpPr>
          <p:cNvPr id="7" name="Text 5"/>
          <p:cNvSpPr txBox="1"/>
          <p:nvPr/>
        </p:nvSpPr>
        <p:spPr>
          <a:xfrm>
            <a:off x="685800" y="3200400"/>
            <a:ext cx="2331720" cy="914400"/>
          </a:xfrm>
          <a:prstGeom prst="rect">
            <a:avLst/>
          </a:prstGeom>
          <a:noFill/>
          <a:ln/>
        </p:spPr>
        <p:txBody>
          <a:bodyPr wrap="square" lIns="0" tIns="0" rIns="0" bIns="0" rtlCol="0" anchor="ctr"/>
          <a:lstStyle/>
          <a:p>
            <a:pPr marL="0" indent="0" algn="ctr">
              <a:lnSpc>
                <a:spcPct val="125000"/>
              </a:lnSpc>
              <a:buNone/>
            </a:pPr>
            <a:r>
              <a:rPr lang="en-US" sz="1050" dirty="0">
                <a:solidFill>
                  <a:srgbClr val="B9C2CE"/>
                </a:solidFill>
                <a:latin typeface="Calibri" pitchFamily="34" charset="0"/>
                <a:ea typeface="Calibri" pitchFamily="34" charset="-122"/>
                <a:cs typeface="Calibri" pitchFamily="34" charset="-120"/>
              </a:rPr>
              <a:t>“Ojo IA”, “leer documento”, etc.</a:t>
            </a:r>
            <a:endParaRPr lang="en-US" sz="1050" dirty="0"/>
          </a:p>
        </p:txBody>
      </p:sp>
      <p:sp>
        <p:nvSpPr>
          <p:cNvPr id="8" name="Text 6"/>
          <p:cNvSpPr txBox="1"/>
          <p:nvPr/>
        </p:nvSpPr>
        <p:spPr>
          <a:xfrm>
            <a:off x="3090672" y="2514600"/>
            <a:ext cx="548640" cy="548640"/>
          </a:xfrm>
          <a:prstGeom prst="rect">
            <a:avLst/>
          </a:prstGeom>
          <a:noFill/>
          <a:ln/>
        </p:spPr>
        <p:txBody>
          <a:bodyPr wrap="square" lIns="0" tIns="0" rIns="0" bIns="0" rtlCol="0" anchor="ctr"/>
          <a:lstStyle/>
          <a:p>
            <a:pPr marL="0" indent="0">
              <a:buNone/>
            </a:pPr>
            <a:r>
              <a:rPr lang="en-US" sz="2400" b="1" dirty="0">
                <a:solidFill>
                  <a:srgbClr val="FFD400"/>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3364992" y="1828800"/>
            <a:ext cx="2606040" cy="2377440"/>
          </a:xfrm>
          <a:prstGeom prst="roundRect">
            <a:avLst>
              <a:gd name="adj" fmla="val 3846"/>
            </a:avLst>
          </a:prstGeom>
          <a:solidFill>
            <a:srgbClr val="1F2630"/>
          </a:solidFill>
          <a:ln w="12700">
            <a:solidFill>
              <a:srgbClr val="39424F"/>
            </a:solidFill>
            <a:prstDash val="solid"/>
          </a:ln>
        </p:spPr>
      </p:sp>
      <p:sp>
        <p:nvSpPr>
          <p:cNvPr id="10" name="Text 8"/>
          <p:cNvSpPr txBox="1"/>
          <p:nvPr/>
        </p:nvSpPr>
        <p:spPr>
          <a:xfrm>
            <a:off x="3364992" y="1965960"/>
            <a:ext cx="2606040" cy="640080"/>
          </a:xfrm>
          <a:prstGeom prst="rect">
            <a:avLst/>
          </a:prstGeom>
          <a:noFill/>
          <a:ln/>
        </p:spPr>
        <p:txBody>
          <a:bodyPr wrap="square" lIns="0" tIns="0" rIns="0" bIns="0" rtlCol="0" anchor="ctr"/>
          <a:lstStyle/>
          <a:p>
            <a:pPr marL="0" indent="0" algn="ctr">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1" name="Text 9"/>
          <p:cNvSpPr txBox="1"/>
          <p:nvPr/>
        </p:nvSpPr>
        <p:spPr>
          <a:xfrm>
            <a:off x="3502152" y="2651760"/>
            <a:ext cx="23317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El sistema operativo escucha</a:t>
            </a:r>
            <a:endParaRPr lang="en-US" sz="1300" dirty="0"/>
          </a:p>
        </p:txBody>
      </p:sp>
      <p:sp>
        <p:nvSpPr>
          <p:cNvPr id="12" name="Text 10"/>
          <p:cNvSpPr txBox="1"/>
          <p:nvPr/>
        </p:nvSpPr>
        <p:spPr>
          <a:xfrm>
            <a:off x="3502152" y="3200400"/>
            <a:ext cx="2331720" cy="914400"/>
          </a:xfrm>
          <a:prstGeom prst="rect">
            <a:avLst/>
          </a:prstGeom>
          <a:noFill/>
          <a:ln/>
        </p:spPr>
        <p:txBody>
          <a:bodyPr wrap="square" lIns="0" tIns="0" rIns="0" bIns="0" rtlCol="0" anchor="ctr"/>
          <a:lstStyle/>
          <a:p>
            <a:pPr marL="0" indent="0" algn="ctr">
              <a:lnSpc>
                <a:spcPct val="125000"/>
              </a:lnSpc>
              <a:buNone/>
            </a:pPr>
            <a:r>
              <a:rPr lang="en-US" sz="1050" dirty="0">
                <a:solidFill>
                  <a:srgbClr val="B9C2CE"/>
                </a:solidFill>
                <a:latin typeface="Calibri" pitchFamily="34" charset="0"/>
                <a:ea typeface="Calibri" pitchFamily="34" charset="-122"/>
                <a:cs typeface="Calibri" pitchFamily="34" charset="-120"/>
              </a:rPr>
              <a:t>El reconocedor de voz nativo de Android (el mismo que usa Google en todo el teléfono) convierte el audio en texto</a:t>
            </a:r>
            <a:endParaRPr lang="en-US" sz="1050" dirty="0"/>
          </a:p>
        </p:txBody>
      </p:sp>
      <p:sp>
        <p:nvSpPr>
          <p:cNvPr id="13" name="Text 11"/>
          <p:cNvSpPr txBox="1"/>
          <p:nvPr/>
        </p:nvSpPr>
        <p:spPr>
          <a:xfrm>
            <a:off x="5907024" y="2514600"/>
            <a:ext cx="548640" cy="548640"/>
          </a:xfrm>
          <a:prstGeom prst="rect">
            <a:avLst/>
          </a:prstGeom>
          <a:noFill/>
          <a:ln/>
        </p:spPr>
        <p:txBody>
          <a:bodyPr wrap="square" lIns="0" tIns="0" rIns="0" bIns="0" rtlCol="0" anchor="ctr"/>
          <a:lstStyle/>
          <a:p>
            <a:pPr marL="0" indent="0">
              <a:buNone/>
            </a:pPr>
            <a:r>
              <a:rPr lang="en-US" sz="2400" b="1" dirty="0">
                <a:solidFill>
                  <a:srgbClr val="FFD400"/>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181344" y="1828800"/>
            <a:ext cx="2606040" cy="2377440"/>
          </a:xfrm>
          <a:prstGeom prst="roundRect">
            <a:avLst>
              <a:gd name="adj" fmla="val 3846"/>
            </a:avLst>
          </a:prstGeom>
          <a:solidFill>
            <a:srgbClr val="1F2630"/>
          </a:solidFill>
          <a:ln w="12700">
            <a:solidFill>
              <a:srgbClr val="39424F"/>
            </a:solidFill>
            <a:prstDash val="solid"/>
          </a:ln>
        </p:spPr>
      </p:sp>
      <p:sp>
        <p:nvSpPr>
          <p:cNvPr id="15" name="Text 13"/>
          <p:cNvSpPr txBox="1"/>
          <p:nvPr/>
        </p:nvSpPr>
        <p:spPr>
          <a:xfrm>
            <a:off x="6181344" y="1965960"/>
            <a:ext cx="2606040" cy="640080"/>
          </a:xfrm>
          <a:prstGeom prst="rect">
            <a:avLst/>
          </a:prstGeom>
          <a:noFill/>
          <a:ln/>
        </p:spPr>
        <p:txBody>
          <a:bodyPr wrap="square" lIns="0" tIns="0" rIns="0" bIns="0" rtlCol="0" anchor="ctr"/>
          <a:lstStyle/>
          <a:p>
            <a:pPr marL="0" indent="0" algn="ctr">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6" name="Text 14"/>
          <p:cNvSpPr txBox="1"/>
          <p:nvPr/>
        </p:nvSpPr>
        <p:spPr>
          <a:xfrm>
            <a:off x="6318504" y="2651760"/>
            <a:ext cx="23317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VÍA recibe texto</a:t>
            </a:r>
            <a:endParaRPr lang="en-US" sz="1300" dirty="0"/>
          </a:p>
        </p:txBody>
      </p:sp>
      <p:sp>
        <p:nvSpPr>
          <p:cNvPr id="17" name="Text 15"/>
          <p:cNvSpPr txBox="1"/>
          <p:nvPr/>
        </p:nvSpPr>
        <p:spPr>
          <a:xfrm>
            <a:off x="6318504" y="3200400"/>
            <a:ext cx="2331720" cy="914400"/>
          </a:xfrm>
          <a:prstGeom prst="rect">
            <a:avLst/>
          </a:prstGeom>
          <a:noFill/>
          <a:ln/>
        </p:spPr>
        <p:txBody>
          <a:bodyPr wrap="square" lIns="0" tIns="0" rIns="0" bIns="0" rtlCol="0" anchor="ctr"/>
          <a:lstStyle/>
          <a:p>
            <a:pPr marL="0" indent="0" algn="ctr">
              <a:lnSpc>
                <a:spcPct val="125000"/>
              </a:lnSpc>
              <a:buNone/>
            </a:pPr>
            <a:r>
              <a:rPr lang="en-US" sz="1050" dirty="0">
                <a:solidFill>
                  <a:srgbClr val="B9C2CE"/>
                </a:solidFill>
                <a:latin typeface="Calibri" pitchFamily="34" charset="0"/>
                <a:ea typeface="Calibri" pitchFamily="34" charset="-122"/>
                <a:cs typeface="Calibri" pitchFamily="34" charset="-120"/>
              </a:rPr>
              <a:t>El paquete speech_to_text entrega ese texto a la app</a:t>
            </a:r>
            <a:endParaRPr lang="en-US" sz="1050" dirty="0"/>
          </a:p>
        </p:txBody>
      </p:sp>
      <p:sp>
        <p:nvSpPr>
          <p:cNvPr id="18" name="Text 16"/>
          <p:cNvSpPr txBox="1"/>
          <p:nvPr/>
        </p:nvSpPr>
        <p:spPr>
          <a:xfrm>
            <a:off x="8723376" y="2514600"/>
            <a:ext cx="548640" cy="548640"/>
          </a:xfrm>
          <a:prstGeom prst="rect">
            <a:avLst/>
          </a:prstGeom>
          <a:noFill/>
          <a:ln/>
        </p:spPr>
        <p:txBody>
          <a:bodyPr wrap="square" lIns="0" tIns="0" rIns="0" bIns="0" rtlCol="0" anchor="ctr"/>
          <a:lstStyle/>
          <a:p>
            <a:pPr marL="0" indent="0">
              <a:buNone/>
            </a:pPr>
            <a:r>
              <a:rPr lang="en-US" sz="2400" b="1" dirty="0">
                <a:solidFill>
                  <a:srgbClr val="FFD400"/>
                </a:solidFill>
                <a:latin typeface="Calibri" pitchFamily="34" charset="0"/>
                <a:ea typeface="Calibri" pitchFamily="34" charset="-122"/>
                <a:cs typeface="Calibri" pitchFamily="34" charset="-120"/>
              </a:rPr>
              <a:t>→</a:t>
            </a:r>
            <a:endParaRPr lang="en-US" sz="2400" dirty="0"/>
          </a:p>
        </p:txBody>
      </p:sp>
      <p:sp>
        <p:nvSpPr>
          <p:cNvPr id="19" name="Shape 17"/>
          <p:cNvSpPr/>
          <p:nvPr/>
        </p:nvSpPr>
        <p:spPr>
          <a:xfrm>
            <a:off x="8997696" y="1828800"/>
            <a:ext cx="2606040" cy="2377440"/>
          </a:xfrm>
          <a:prstGeom prst="roundRect">
            <a:avLst>
              <a:gd name="adj" fmla="val 3846"/>
            </a:avLst>
          </a:prstGeom>
          <a:solidFill>
            <a:srgbClr val="1F2630"/>
          </a:solidFill>
          <a:ln w="12700">
            <a:solidFill>
              <a:srgbClr val="39424F"/>
            </a:solidFill>
            <a:prstDash val="solid"/>
          </a:ln>
        </p:spPr>
      </p:sp>
      <p:sp>
        <p:nvSpPr>
          <p:cNvPr id="20" name="Text 18"/>
          <p:cNvSpPr txBox="1"/>
          <p:nvPr/>
        </p:nvSpPr>
        <p:spPr>
          <a:xfrm>
            <a:off x="8997696" y="1965960"/>
            <a:ext cx="2606040" cy="640080"/>
          </a:xfrm>
          <a:prstGeom prst="rect">
            <a:avLst/>
          </a:prstGeom>
          <a:noFill/>
          <a:ln/>
        </p:spPr>
        <p:txBody>
          <a:bodyPr wrap="square" lIns="0" tIns="0" rIns="0" bIns="0" rtlCol="0" anchor="ctr"/>
          <a:lstStyle/>
          <a:p>
            <a:pPr marL="0" indent="0" algn="ctr">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21" name="Text 19"/>
          <p:cNvSpPr txBox="1"/>
          <p:nvPr/>
        </p:nvSpPr>
        <p:spPr>
          <a:xfrm>
            <a:off x="9134856" y="2651760"/>
            <a:ext cx="23317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VÍA interpreta el comando</a:t>
            </a:r>
            <a:endParaRPr lang="en-US" sz="1300" dirty="0"/>
          </a:p>
        </p:txBody>
      </p:sp>
      <p:sp>
        <p:nvSpPr>
          <p:cNvPr id="22" name="Text 20"/>
          <p:cNvSpPr txBox="1"/>
          <p:nvPr/>
        </p:nvSpPr>
        <p:spPr>
          <a:xfrm>
            <a:off x="9134856" y="3200400"/>
            <a:ext cx="2331720" cy="914400"/>
          </a:xfrm>
          <a:prstGeom prst="rect">
            <a:avLst/>
          </a:prstGeom>
          <a:noFill/>
          <a:ln/>
        </p:spPr>
        <p:txBody>
          <a:bodyPr wrap="square" lIns="0" tIns="0" rIns="0" bIns="0" rtlCol="0" anchor="ctr"/>
          <a:lstStyle/>
          <a:p>
            <a:pPr marL="0" indent="0" algn="ctr">
              <a:lnSpc>
                <a:spcPct val="125000"/>
              </a:lnSpc>
              <a:buNone/>
            </a:pPr>
            <a:r>
              <a:rPr lang="en-US" sz="1050" dirty="0">
                <a:solidFill>
                  <a:srgbClr val="B9C2CE"/>
                </a:solidFill>
                <a:latin typeface="Calibri" pitchFamily="34" charset="0"/>
                <a:ea typeface="Calibri" pitchFamily="34" charset="-122"/>
                <a:cs typeface="Calibri" pitchFamily="34" charset="-120"/>
              </a:rPr>
              <a:t>Compara el texto contra una lista de frases conocidas y ejecuta la acción</a:t>
            </a:r>
            <a:endParaRPr lang="en-US" sz="1050" dirty="0"/>
          </a:p>
        </p:txBody>
      </p:sp>
      <p:sp>
        <p:nvSpPr>
          <p:cNvPr id="23" name="Shape 21"/>
          <p:cNvSpPr/>
          <p:nvPr/>
        </p:nvSpPr>
        <p:spPr>
          <a:xfrm>
            <a:off x="548640" y="4526280"/>
            <a:ext cx="11064240" cy="1600200"/>
          </a:xfrm>
          <a:prstGeom prst="roundRect">
            <a:avLst>
              <a:gd name="adj" fmla="val 5714"/>
            </a:avLst>
          </a:prstGeom>
          <a:solidFill>
            <a:srgbClr val="151A21"/>
          </a:solidFill>
          <a:ln w="12700">
            <a:solidFill>
              <a:srgbClr val="FFD400"/>
            </a:solidFill>
            <a:prstDash val="solid"/>
          </a:ln>
        </p:spPr>
      </p:sp>
      <p:sp>
        <p:nvSpPr>
          <p:cNvPr id="24" name="Text 22"/>
          <p:cNvSpPr txBox="1"/>
          <p:nvPr/>
        </p:nvSpPr>
        <p:spPr>
          <a:xfrm>
            <a:off x="868680" y="4663440"/>
            <a:ext cx="10424160" cy="320040"/>
          </a:xfrm>
          <a:prstGeom prst="rect">
            <a:avLst/>
          </a:prstGeom>
          <a:noFill/>
          <a:ln/>
        </p:spPr>
        <p:txBody>
          <a:bodyPr wrap="square" lIns="0" tIns="0" rIns="0" bIns="0" rtlCol="0" anchor="ctr"/>
          <a:lstStyle/>
          <a:p>
            <a:pPr marL="0" indent="0">
              <a:buNone/>
            </a:pPr>
            <a:r>
              <a:rPr lang="en-US" sz="1350" b="1" dirty="0">
                <a:solidFill>
                  <a:srgbClr val="FFD400"/>
                </a:solidFill>
                <a:latin typeface="Calibri" pitchFamily="34" charset="0"/>
                <a:ea typeface="Calibri" pitchFamily="34" charset="-122"/>
                <a:cs typeface="Calibri" pitchFamily="34" charset="-120"/>
              </a:rPr>
              <a:t>En otras palabras</a:t>
            </a:r>
            <a:endParaRPr lang="en-US" sz="1350" dirty="0"/>
          </a:p>
        </p:txBody>
      </p:sp>
      <p:sp>
        <p:nvSpPr>
          <p:cNvPr id="25" name="Text 23"/>
          <p:cNvSpPr txBox="1"/>
          <p:nvPr/>
        </p:nvSpPr>
        <p:spPr>
          <a:xfrm>
            <a:off x="868680" y="5010912"/>
            <a:ext cx="10424160" cy="1051560"/>
          </a:xfrm>
          <a:prstGeom prst="rect">
            <a:avLst/>
          </a:prstGeom>
          <a:noFill/>
          <a:ln/>
        </p:spPr>
        <p:txBody>
          <a:bodyPr wrap="square" lIns="0" tIns="0" rIns="0" bIns="0" rtlCol="0" anchor="ctr"/>
          <a:lstStyle/>
          <a:p>
            <a:pPr marL="0" indent="0">
              <a:lnSpc>
                <a:spcPct val="130000"/>
              </a:lnSpc>
              <a:buNone/>
            </a:pPr>
            <a:r>
              <a:rPr lang="en-US" sz="1250" dirty="0">
                <a:solidFill>
                  <a:srgbClr val="B9C2CE"/>
                </a:solidFill>
                <a:latin typeface="Calibri" pitchFamily="34" charset="0"/>
                <a:ea typeface="Calibri" pitchFamily="34" charset="-122"/>
                <a:cs typeface="Calibri" pitchFamily="34" charset="-120"/>
              </a:rPr>
              <a:t>VÍA no entrena ni aloja su propio modelo de inteligencia artificial para reconocer voz. Usa el paquete speech_to_text de Flutter, que delega esa tarea al reconocedor de voz que ya trae instalado el sistema operativo del celular (en Android, el servicio de reconocimiento de voz de Google). Para que la app hable, se usa el paquete complementario flutter_tts, que también usa el motor de voz nativo del equipo.</a:t>
            </a:r>
            <a:endParaRPr lang="en-US" sz="1250" dirty="0"/>
          </a:p>
        </p:txBody>
      </p:sp>
      <p:sp>
        <p:nvSpPr>
          <p:cNvPr id="26" name="Text 24"/>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EVALUACIÓN</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Diez heurísticas de Nielsen, aplicadas al diseño</a:t>
            </a:r>
            <a:endParaRPr lang="en-US" sz="3200" dirty="0"/>
          </a:p>
        </p:txBody>
      </p:sp>
      <p:sp>
        <p:nvSpPr>
          <p:cNvPr id="4" name="Shape 2"/>
          <p:cNvSpPr/>
          <p:nvPr/>
        </p:nvSpPr>
        <p:spPr>
          <a:xfrm>
            <a:off x="548640" y="1783080"/>
            <a:ext cx="3291840" cy="4023360"/>
          </a:xfrm>
          <a:prstGeom prst="roundRect">
            <a:avLst>
              <a:gd name="adj" fmla="val 2778"/>
            </a:avLst>
          </a:prstGeom>
          <a:solidFill>
            <a:srgbClr val="151A21"/>
          </a:solidFill>
          <a:ln w="12700">
            <a:solidFill>
              <a:srgbClr val="5BE39A"/>
            </a:solidFill>
            <a:prstDash val="solid"/>
          </a:ln>
        </p:spPr>
      </p:sp>
      <p:sp>
        <p:nvSpPr>
          <p:cNvPr id="5" name="Text 3"/>
          <p:cNvSpPr txBox="1"/>
          <p:nvPr/>
        </p:nvSpPr>
        <p:spPr>
          <a:xfrm>
            <a:off x="548640" y="2103120"/>
            <a:ext cx="3291840" cy="914400"/>
          </a:xfrm>
          <a:prstGeom prst="rect">
            <a:avLst/>
          </a:prstGeom>
          <a:noFill/>
          <a:ln/>
        </p:spPr>
        <p:txBody>
          <a:bodyPr wrap="square" lIns="0" tIns="0" rIns="0" bIns="0" rtlCol="0" anchor="ctr"/>
          <a:lstStyle/>
          <a:p>
            <a:pPr marL="0" indent="0" algn="ctr">
              <a:buNone/>
            </a:pPr>
            <a:r>
              <a:rPr lang="en-US" sz="4400" b="1" dirty="0">
                <a:solidFill>
                  <a:srgbClr val="5BE39A"/>
                </a:solidFill>
                <a:latin typeface="Cambria" pitchFamily="34" charset="0"/>
                <a:ea typeface="Cambria" pitchFamily="34" charset="-122"/>
                <a:cs typeface="Cambria" pitchFamily="34" charset="-120"/>
              </a:rPr>
              <a:t>10 / 10</a:t>
            </a:r>
            <a:endParaRPr lang="en-US" sz="4400" dirty="0"/>
          </a:p>
        </p:txBody>
      </p:sp>
      <p:sp>
        <p:nvSpPr>
          <p:cNvPr id="6" name="Text 4"/>
          <p:cNvSpPr txBox="1"/>
          <p:nvPr/>
        </p:nvSpPr>
        <p:spPr>
          <a:xfrm>
            <a:off x="868680" y="3017520"/>
            <a:ext cx="2651760" cy="822960"/>
          </a:xfrm>
          <a:prstGeom prst="rect">
            <a:avLst/>
          </a:prstGeom>
          <a:noFill/>
          <a:ln/>
        </p:spPr>
        <p:txBody>
          <a:bodyPr wrap="square" lIns="0" tIns="0" rIns="0" bIns="0" rtlCol="0" anchor="ctr"/>
          <a:lstStyle/>
          <a:p>
            <a:pPr marL="0" indent="0" algn="ctr">
              <a:buNone/>
            </a:pPr>
            <a:r>
              <a:rPr lang="en-US" sz="1300" dirty="0">
                <a:solidFill>
                  <a:srgbClr val="B9C2CE"/>
                </a:solidFill>
                <a:latin typeface="Calibri" pitchFamily="34" charset="0"/>
                <a:ea typeface="Calibri" pitchFamily="34" charset="-122"/>
                <a:cs typeface="Calibri" pitchFamily="34" charset="-120"/>
              </a:rPr>
              <a:t>heurísticas cumplidas en el recorrido del prototipo</a:t>
            </a:r>
            <a:endParaRPr lang="en-US" sz="1300" dirty="0"/>
          </a:p>
        </p:txBody>
      </p:sp>
      <p:sp>
        <p:nvSpPr>
          <p:cNvPr id="7" name="Text 5"/>
          <p:cNvSpPr txBox="1"/>
          <p:nvPr/>
        </p:nvSpPr>
        <p:spPr>
          <a:xfrm>
            <a:off x="868680" y="4114800"/>
            <a:ext cx="2651760" cy="1463040"/>
          </a:xfrm>
          <a:prstGeom prst="rect">
            <a:avLst/>
          </a:prstGeom>
          <a:noFill/>
          <a:ln/>
        </p:spPr>
        <p:txBody>
          <a:bodyPr wrap="square" lIns="0" tIns="0" rIns="0" bIns="0" rtlCol="0" anchor="ctr"/>
          <a:lstStyle/>
          <a:p>
            <a:pPr marL="0" indent="0" algn="ctr">
              <a:lnSpc>
                <a:spcPct val="130000"/>
              </a:lnSpc>
              <a:buNone/>
            </a:pPr>
            <a:r>
              <a:rPr lang="en-US" sz="1150" i="1" dirty="0">
                <a:solidFill>
                  <a:srgbClr val="B9C2CE"/>
                </a:solidFill>
                <a:latin typeface="Calibri" pitchFamily="34" charset="0"/>
                <a:ea typeface="Calibri" pitchFamily="34" charset="-122"/>
                <a:cs typeface="Calibri" pitchFamily="34" charset="-120"/>
              </a:rPr>
              <a:t>Ej.: cada acción se confirma por voz + vibración + lector de pantalla a la vez.</a:t>
            </a:r>
            <a:endParaRPr lang="en-US" sz="1150" dirty="0"/>
          </a:p>
        </p:txBody>
      </p:sp>
      <p:sp>
        <p:nvSpPr>
          <p:cNvPr id="8" name="Shape 6"/>
          <p:cNvSpPr/>
          <p:nvPr/>
        </p:nvSpPr>
        <p:spPr>
          <a:xfrm>
            <a:off x="4069080" y="1783080"/>
            <a:ext cx="7543800" cy="4023360"/>
          </a:xfrm>
          <a:prstGeom prst="roundRect">
            <a:avLst>
              <a:gd name="adj" fmla="val 2273"/>
            </a:avLst>
          </a:prstGeom>
          <a:solidFill>
            <a:srgbClr val="151A21"/>
          </a:solidFill>
          <a:ln w="12700">
            <a:solidFill>
              <a:srgbClr val="FFD400"/>
            </a:solidFill>
            <a:prstDash val="solid"/>
          </a:ln>
        </p:spPr>
      </p:sp>
      <p:sp>
        <p:nvSpPr>
          <p:cNvPr id="9" name="Text 7"/>
          <p:cNvSpPr txBox="1"/>
          <p:nvPr/>
        </p:nvSpPr>
        <p:spPr>
          <a:xfrm>
            <a:off x="4389120" y="1965960"/>
            <a:ext cx="6949440" cy="365760"/>
          </a:xfrm>
          <a:prstGeom prst="rect">
            <a:avLst/>
          </a:prstGeom>
          <a:noFill/>
          <a:ln/>
        </p:spPr>
        <p:txBody>
          <a:bodyPr wrap="square" lIns="0" tIns="0" rIns="0" bIns="0" rtlCol="0" anchor="ctr"/>
          <a:lstStyle/>
          <a:p>
            <a:pPr marL="0" indent="0">
              <a:buNone/>
            </a:pPr>
            <a:r>
              <a:rPr lang="en-US" sz="1500" b="1" dirty="0">
                <a:solidFill>
                  <a:srgbClr val="FFD400"/>
                </a:solidFill>
                <a:latin typeface="Calibri" pitchFamily="34" charset="0"/>
                <a:ea typeface="Calibri" pitchFamily="34" charset="-122"/>
                <a:cs typeface="Calibri" pitchFamily="34" charset="-120"/>
              </a:rPr>
              <a:t>3 hallazgos de mejora, documentados con severidad</a:t>
            </a:r>
            <a:endParaRPr lang="en-US" sz="1500" dirty="0"/>
          </a:p>
        </p:txBody>
      </p:sp>
      <p:sp>
        <p:nvSpPr>
          <p:cNvPr id="10" name="Shape 8"/>
          <p:cNvSpPr/>
          <p:nvPr/>
        </p:nvSpPr>
        <p:spPr>
          <a:xfrm>
            <a:off x="4389120" y="2578608"/>
            <a:ext cx="164592" cy="164592"/>
          </a:xfrm>
          <a:prstGeom prst="ellipse">
            <a:avLst/>
          </a:prstGeom>
          <a:solidFill>
            <a:srgbClr val="FFD400"/>
          </a:solidFill>
          <a:ln/>
        </p:spPr>
      </p:sp>
      <p:sp>
        <p:nvSpPr>
          <p:cNvPr id="11" name="Text 9"/>
          <p:cNvSpPr txBox="1"/>
          <p:nvPr/>
        </p:nvSpPr>
        <p:spPr>
          <a:xfrm>
            <a:off x="4709160" y="2468880"/>
            <a:ext cx="6675120" cy="914400"/>
          </a:xfrm>
          <a:prstGeom prst="rect">
            <a:avLst/>
          </a:prstGeom>
          <a:noFill/>
          <a:ln/>
        </p:spPr>
        <p:txBody>
          <a:bodyPr wrap="square" lIns="0" tIns="0" rIns="0" bIns="0" rtlCol="0" anchor="ctr"/>
          <a:lstStyle/>
          <a:p>
            <a:pPr marL="0" indent="0">
              <a:lnSpc>
                <a:spcPct val="125000"/>
              </a:lnSpc>
              <a:buNone/>
            </a:pPr>
            <a:r>
              <a:rPr lang="en-US" sz="1250" dirty="0">
                <a:solidFill>
                  <a:srgbClr val="B9C2CE"/>
                </a:solidFill>
                <a:latin typeface="Calibri" pitchFamily="34" charset="0"/>
                <a:ea typeface="Calibri" pitchFamily="34" charset="-122"/>
                <a:cs typeface="Calibri" pitchFamily="34" charset="-120"/>
              </a:rPr>
              <a:t>Comandos no descubribles al inicio — falta un comando “ayuda” que los liste (ya corregido)</a:t>
            </a:r>
            <a:endParaRPr lang="en-US" sz="1250" dirty="0"/>
          </a:p>
        </p:txBody>
      </p:sp>
      <p:sp>
        <p:nvSpPr>
          <p:cNvPr id="12" name="Shape 10"/>
          <p:cNvSpPr/>
          <p:nvPr/>
        </p:nvSpPr>
        <p:spPr>
          <a:xfrm>
            <a:off x="4389120" y="3584448"/>
            <a:ext cx="164592" cy="164592"/>
          </a:xfrm>
          <a:prstGeom prst="ellipse">
            <a:avLst/>
          </a:prstGeom>
          <a:solidFill>
            <a:srgbClr val="FFD400"/>
          </a:solidFill>
          <a:ln/>
        </p:spPr>
      </p:sp>
      <p:sp>
        <p:nvSpPr>
          <p:cNvPr id="13" name="Text 11"/>
          <p:cNvSpPr txBox="1"/>
          <p:nvPr/>
        </p:nvSpPr>
        <p:spPr>
          <a:xfrm>
            <a:off x="4709160" y="3474720"/>
            <a:ext cx="6675120" cy="914400"/>
          </a:xfrm>
          <a:prstGeom prst="rect">
            <a:avLst/>
          </a:prstGeom>
          <a:noFill/>
          <a:ln/>
        </p:spPr>
        <p:txBody>
          <a:bodyPr wrap="square" lIns="0" tIns="0" rIns="0" bIns="0" rtlCol="0" anchor="ctr"/>
          <a:lstStyle/>
          <a:p>
            <a:pPr marL="0" indent="0">
              <a:lnSpc>
                <a:spcPct val="125000"/>
              </a:lnSpc>
              <a:buNone/>
            </a:pPr>
            <a:r>
              <a:rPr lang="en-US" sz="1250" dirty="0">
                <a:solidFill>
                  <a:srgbClr val="B9C2CE"/>
                </a:solidFill>
                <a:latin typeface="Calibri" pitchFamily="34" charset="0"/>
                <a:ea typeface="Calibri" pitchFamily="34" charset="-122"/>
                <a:cs typeface="Calibri" pitchFamily="34" charset="-120"/>
              </a:rPr>
              <a:t>Silencio durante procesos largos (OCR, descarga web) sin progreso audible intermedio</a:t>
            </a:r>
            <a:endParaRPr lang="en-US" sz="1250" dirty="0"/>
          </a:p>
        </p:txBody>
      </p:sp>
      <p:sp>
        <p:nvSpPr>
          <p:cNvPr id="14" name="Shape 12"/>
          <p:cNvSpPr/>
          <p:nvPr/>
        </p:nvSpPr>
        <p:spPr>
          <a:xfrm>
            <a:off x="4389120" y="4590288"/>
            <a:ext cx="164592" cy="164592"/>
          </a:xfrm>
          <a:prstGeom prst="ellipse">
            <a:avLst/>
          </a:prstGeom>
          <a:solidFill>
            <a:srgbClr val="FFD400"/>
          </a:solidFill>
          <a:ln/>
        </p:spPr>
      </p:sp>
      <p:sp>
        <p:nvSpPr>
          <p:cNvPr id="15" name="Text 13"/>
          <p:cNvSpPr txBox="1"/>
          <p:nvPr/>
        </p:nvSpPr>
        <p:spPr>
          <a:xfrm>
            <a:off x="4709160" y="4480560"/>
            <a:ext cx="6675120" cy="914400"/>
          </a:xfrm>
          <a:prstGeom prst="rect">
            <a:avLst/>
          </a:prstGeom>
          <a:noFill/>
          <a:ln/>
        </p:spPr>
        <p:txBody>
          <a:bodyPr wrap="square" lIns="0" tIns="0" rIns="0" bIns="0" rtlCol="0" anchor="ctr"/>
          <a:lstStyle/>
          <a:p>
            <a:pPr marL="0" indent="0">
              <a:lnSpc>
                <a:spcPct val="125000"/>
              </a:lnSpc>
              <a:buNone/>
            </a:pPr>
            <a:r>
              <a:rPr lang="en-US" sz="1250" dirty="0">
                <a:solidFill>
                  <a:srgbClr val="B9C2CE"/>
                </a:solidFill>
                <a:latin typeface="Calibri" pitchFamily="34" charset="0"/>
                <a:ea typeface="Calibri" pitchFamily="34" charset="-122"/>
                <a:cs typeface="Calibri" pitchFamily="34" charset="-120"/>
              </a:rPr>
              <a:t>Guía de encuadre de cámara mide solo luz, no bordes del documento — limitación documentada</a:t>
            </a:r>
            <a:endParaRPr lang="en-US" sz="1250" dirty="0"/>
          </a:p>
        </p:txBody>
      </p:sp>
      <p:sp>
        <p:nvSpPr>
          <p:cNvPr id="16" name="Text 14"/>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SIGUIENTE PASO</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Protocolo de evaluación con usuarios</a:t>
            </a:r>
            <a:endParaRPr lang="en-US" sz="3200" dirty="0"/>
          </a:p>
        </p:txBody>
      </p:sp>
      <p:sp>
        <p:nvSpPr>
          <p:cNvPr id="4" name="Text 2"/>
          <p:cNvSpPr txBox="1"/>
          <p:nvPr/>
        </p:nvSpPr>
        <p:spPr>
          <a:xfrm>
            <a:off x="548640" y="1691640"/>
            <a:ext cx="10789920" cy="457200"/>
          </a:xfrm>
          <a:prstGeom prst="rect">
            <a:avLst/>
          </a:prstGeom>
          <a:noFill/>
          <a:ln/>
        </p:spPr>
        <p:txBody>
          <a:bodyPr wrap="square" lIns="0" tIns="0" rIns="0" bIns="0" rtlCol="0" anchor="ctr"/>
          <a:lstStyle/>
          <a:p>
            <a:pPr marL="0" indent="0">
              <a:buNone/>
            </a:pPr>
            <a:r>
              <a:rPr lang="en-US" sz="1500" dirty="0">
                <a:solidFill>
                  <a:srgbClr val="B9C2CE"/>
                </a:solidFill>
                <a:latin typeface="Calibri" pitchFamily="34" charset="0"/>
                <a:ea typeface="Calibri" pitchFamily="34" charset="-122"/>
                <a:cs typeface="Calibri" pitchFamily="34" charset="-120"/>
              </a:rPr>
              <a:t>Formulado y listo para ejecutarse con 3 a 5 personas, antes de la presentación de lanzamiento.</a:t>
            </a:r>
            <a:endParaRPr lang="en-US" sz="1500" dirty="0"/>
          </a:p>
        </p:txBody>
      </p:sp>
      <p:sp>
        <p:nvSpPr>
          <p:cNvPr id="5" name="Shape 3"/>
          <p:cNvSpPr/>
          <p:nvPr/>
        </p:nvSpPr>
        <p:spPr>
          <a:xfrm>
            <a:off x="548640" y="2331720"/>
            <a:ext cx="5212080" cy="3566160"/>
          </a:xfrm>
          <a:prstGeom prst="roundRect">
            <a:avLst>
              <a:gd name="adj" fmla="val 2564"/>
            </a:avLst>
          </a:prstGeom>
          <a:solidFill>
            <a:srgbClr val="151A21"/>
          </a:solidFill>
          <a:ln w="12700">
            <a:solidFill>
              <a:srgbClr val="39424F"/>
            </a:solidFill>
            <a:prstDash val="solid"/>
          </a:ln>
        </p:spPr>
      </p:sp>
      <p:sp>
        <p:nvSpPr>
          <p:cNvPr id="6" name="Text 4"/>
          <p:cNvSpPr txBox="1"/>
          <p:nvPr/>
        </p:nvSpPr>
        <p:spPr>
          <a:xfrm>
            <a:off x="868680" y="2514600"/>
            <a:ext cx="45720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5 tareas a cronometrar</a:t>
            </a:r>
            <a:endParaRPr lang="en-US" sz="1500" dirty="0"/>
          </a:p>
        </p:txBody>
      </p:sp>
      <p:sp>
        <p:nvSpPr>
          <p:cNvPr id="7" name="Text 5"/>
          <p:cNvSpPr txBox="1"/>
          <p:nvPr/>
        </p:nvSpPr>
        <p:spPr>
          <a:xfrm>
            <a:off x="868680" y="3017520"/>
            <a:ext cx="365760" cy="365760"/>
          </a:xfrm>
          <a:prstGeom prst="rect">
            <a:avLst/>
          </a:prstGeom>
          <a:noFill/>
          <a:ln/>
        </p:spPr>
        <p:txBody>
          <a:bodyPr wrap="square" lIns="0" tIns="0" rIns="0" bIns="0" rtlCol="0" anchor="ctr"/>
          <a:lstStyle/>
          <a:p>
            <a:pPr marL="0" indent="0">
              <a:buNone/>
            </a:pPr>
            <a:r>
              <a:rPr lang="en-US" sz="1300" b="1" dirty="0">
                <a:solidFill>
                  <a:srgbClr val="FFD400"/>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80160" y="3017520"/>
            <a:ext cx="4297680" cy="365760"/>
          </a:xfrm>
          <a:prstGeom prst="rect">
            <a:avLst/>
          </a:prstGeom>
          <a:noFill/>
          <a:ln/>
        </p:spPr>
        <p:txBody>
          <a:bodyPr wrap="square" lIns="0" tIns="0" rIns="0" bIns="0" rtlCol="0" anchor="ctr"/>
          <a:lstStyle/>
          <a:p>
            <a:pPr marL="0" indent="0">
              <a:buNone/>
            </a:pPr>
            <a:r>
              <a:rPr lang="en-US" sz="1250" dirty="0">
                <a:solidFill>
                  <a:srgbClr val="B9C2CE"/>
                </a:solidFill>
                <a:latin typeface="Calibri" pitchFamily="34" charset="0"/>
                <a:ea typeface="Calibri" pitchFamily="34" charset="-122"/>
                <a:cs typeface="Calibri" pitchFamily="34" charset="-120"/>
              </a:rPr>
              <a:t>Elegir perfil de accesibilidad sin ayuda</a:t>
            </a:r>
            <a:endParaRPr lang="en-US" sz="1250" dirty="0"/>
          </a:p>
        </p:txBody>
      </p:sp>
      <p:sp>
        <p:nvSpPr>
          <p:cNvPr id="9" name="Text 7"/>
          <p:cNvSpPr txBox="1"/>
          <p:nvPr/>
        </p:nvSpPr>
        <p:spPr>
          <a:xfrm>
            <a:off x="868680" y="3474720"/>
            <a:ext cx="365760" cy="365760"/>
          </a:xfrm>
          <a:prstGeom prst="rect">
            <a:avLst/>
          </a:prstGeom>
          <a:noFill/>
          <a:ln/>
        </p:spPr>
        <p:txBody>
          <a:bodyPr wrap="square" lIns="0" tIns="0" rIns="0" bIns="0" rtlCol="0" anchor="ctr"/>
          <a:lstStyle/>
          <a:p>
            <a:pPr marL="0" indent="0">
              <a:buNone/>
            </a:pPr>
            <a:r>
              <a:rPr lang="en-US" sz="1300" b="1" dirty="0">
                <a:solidFill>
                  <a:srgbClr val="FFD400"/>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280160" y="3474720"/>
            <a:ext cx="4297680" cy="365760"/>
          </a:xfrm>
          <a:prstGeom prst="rect">
            <a:avLst/>
          </a:prstGeom>
          <a:noFill/>
          <a:ln/>
        </p:spPr>
        <p:txBody>
          <a:bodyPr wrap="square" lIns="0" tIns="0" rIns="0" bIns="0" rtlCol="0" anchor="ctr"/>
          <a:lstStyle/>
          <a:p>
            <a:pPr marL="0" indent="0">
              <a:buNone/>
            </a:pPr>
            <a:r>
              <a:rPr lang="en-US" sz="1250" dirty="0">
                <a:solidFill>
                  <a:srgbClr val="B9C2CE"/>
                </a:solidFill>
                <a:latin typeface="Calibri" pitchFamily="34" charset="0"/>
                <a:ea typeface="Calibri" pitchFamily="34" charset="-122"/>
                <a:cs typeface="Calibri" pitchFamily="34" charset="-120"/>
              </a:rPr>
              <a:t>Decir “leer documento” y escuchar el resultado</a:t>
            </a:r>
            <a:endParaRPr lang="en-US" sz="1250" dirty="0"/>
          </a:p>
        </p:txBody>
      </p:sp>
      <p:sp>
        <p:nvSpPr>
          <p:cNvPr id="11" name="Text 9"/>
          <p:cNvSpPr txBox="1"/>
          <p:nvPr/>
        </p:nvSpPr>
        <p:spPr>
          <a:xfrm>
            <a:off x="868680" y="3931920"/>
            <a:ext cx="365760" cy="365760"/>
          </a:xfrm>
          <a:prstGeom prst="rect">
            <a:avLst/>
          </a:prstGeom>
          <a:noFill/>
          <a:ln/>
        </p:spPr>
        <p:txBody>
          <a:bodyPr wrap="square" lIns="0" tIns="0" rIns="0" bIns="0" rtlCol="0" anchor="ctr"/>
          <a:lstStyle/>
          <a:p>
            <a:pPr marL="0" indent="0">
              <a:buNone/>
            </a:pPr>
            <a:r>
              <a:rPr lang="en-US" sz="1300" b="1" dirty="0">
                <a:solidFill>
                  <a:srgbClr val="FFD400"/>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280160" y="3931920"/>
            <a:ext cx="4297680" cy="365760"/>
          </a:xfrm>
          <a:prstGeom prst="rect">
            <a:avLst/>
          </a:prstGeom>
          <a:noFill/>
          <a:ln/>
        </p:spPr>
        <p:txBody>
          <a:bodyPr wrap="square" lIns="0" tIns="0" rIns="0" bIns="0" rtlCol="0" anchor="ctr"/>
          <a:lstStyle/>
          <a:p>
            <a:pPr marL="0" indent="0">
              <a:buNone/>
            </a:pPr>
            <a:r>
              <a:rPr lang="en-US" sz="1250" dirty="0">
                <a:solidFill>
                  <a:srgbClr val="B9C2CE"/>
                </a:solidFill>
                <a:latin typeface="Calibri" pitchFamily="34" charset="0"/>
                <a:ea typeface="Calibri" pitchFamily="34" charset="-122"/>
                <a:cs typeface="Calibri" pitchFamily="34" charset="-120"/>
              </a:rPr>
              <a:t>Pausar y reanudar la lectura por voz</a:t>
            </a:r>
            <a:endParaRPr lang="en-US" sz="1250" dirty="0"/>
          </a:p>
        </p:txBody>
      </p:sp>
      <p:sp>
        <p:nvSpPr>
          <p:cNvPr id="13" name="Text 11"/>
          <p:cNvSpPr txBox="1"/>
          <p:nvPr/>
        </p:nvSpPr>
        <p:spPr>
          <a:xfrm>
            <a:off x="868680" y="4389120"/>
            <a:ext cx="365760" cy="365760"/>
          </a:xfrm>
          <a:prstGeom prst="rect">
            <a:avLst/>
          </a:prstGeom>
          <a:noFill/>
          <a:ln/>
        </p:spPr>
        <p:txBody>
          <a:bodyPr wrap="square" lIns="0" tIns="0" rIns="0" bIns="0" rtlCol="0" anchor="ctr"/>
          <a:lstStyle/>
          <a:p>
            <a:pPr marL="0" indent="0">
              <a:buNone/>
            </a:pPr>
            <a:r>
              <a:rPr lang="en-US" sz="1300" b="1" dirty="0">
                <a:solidFill>
                  <a:srgbClr val="FFD400"/>
                </a:solidFill>
                <a:latin typeface="Calibri" pitchFamily="34" charset="0"/>
                <a:ea typeface="Calibri" pitchFamily="34" charset="-122"/>
                <a:cs typeface="Calibri" pitchFamily="34" charset="-120"/>
              </a:rPr>
              <a:t>4.</a:t>
            </a:r>
            <a:endParaRPr lang="en-US" sz="1300" dirty="0"/>
          </a:p>
        </p:txBody>
      </p:sp>
      <p:sp>
        <p:nvSpPr>
          <p:cNvPr id="14" name="Text 12"/>
          <p:cNvSpPr txBox="1"/>
          <p:nvPr/>
        </p:nvSpPr>
        <p:spPr>
          <a:xfrm>
            <a:off x="1280160" y="4389120"/>
            <a:ext cx="4297680" cy="365760"/>
          </a:xfrm>
          <a:prstGeom prst="rect">
            <a:avLst/>
          </a:prstGeom>
          <a:noFill/>
          <a:ln/>
        </p:spPr>
        <p:txBody>
          <a:bodyPr wrap="square" lIns="0" tIns="0" rIns="0" bIns="0" rtlCol="0" anchor="ctr"/>
          <a:lstStyle/>
          <a:p>
            <a:pPr marL="0" indent="0">
              <a:buNone/>
            </a:pPr>
            <a:r>
              <a:rPr lang="en-US" sz="1250" dirty="0">
                <a:solidFill>
                  <a:srgbClr val="B9C2CE"/>
                </a:solidFill>
                <a:latin typeface="Calibri" pitchFamily="34" charset="0"/>
                <a:ea typeface="Calibri" pitchFamily="34" charset="-122"/>
                <a:cs typeface="Calibri" pitchFamily="34" charset="-120"/>
              </a:rPr>
              <a:t>Cambiar la velocidad de voz en Ajustes</a:t>
            </a:r>
            <a:endParaRPr lang="en-US" sz="1250" dirty="0"/>
          </a:p>
        </p:txBody>
      </p:sp>
      <p:sp>
        <p:nvSpPr>
          <p:cNvPr id="15" name="Text 13"/>
          <p:cNvSpPr txBox="1"/>
          <p:nvPr/>
        </p:nvSpPr>
        <p:spPr>
          <a:xfrm>
            <a:off x="868680" y="4846320"/>
            <a:ext cx="365760" cy="365760"/>
          </a:xfrm>
          <a:prstGeom prst="rect">
            <a:avLst/>
          </a:prstGeom>
          <a:noFill/>
          <a:ln/>
        </p:spPr>
        <p:txBody>
          <a:bodyPr wrap="square" lIns="0" tIns="0" rIns="0" bIns="0" rtlCol="0" anchor="ctr"/>
          <a:lstStyle/>
          <a:p>
            <a:pPr marL="0" indent="0">
              <a:buNone/>
            </a:pPr>
            <a:r>
              <a:rPr lang="en-US" sz="1300" b="1" dirty="0">
                <a:solidFill>
                  <a:srgbClr val="FFD400"/>
                </a:solidFill>
                <a:latin typeface="Calibri" pitchFamily="34" charset="0"/>
                <a:ea typeface="Calibri" pitchFamily="34" charset="-122"/>
                <a:cs typeface="Calibri" pitchFamily="34" charset="-120"/>
              </a:rPr>
              <a:t>5.</a:t>
            </a:r>
            <a:endParaRPr lang="en-US" sz="1300" dirty="0"/>
          </a:p>
        </p:txBody>
      </p:sp>
      <p:sp>
        <p:nvSpPr>
          <p:cNvPr id="16" name="Text 14"/>
          <p:cNvSpPr txBox="1"/>
          <p:nvPr/>
        </p:nvSpPr>
        <p:spPr>
          <a:xfrm>
            <a:off x="1280160" y="4846320"/>
            <a:ext cx="4297680" cy="365760"/>
          </a:xfrm>
          <a:prstGeom prst="rect">
            <a:avLst/>
          </a:prstGeom>
          <a:noFill/>
          <a:ln/>
        </p:spPr>
        <p:txBody>
          <a:bodyPr wrap="square" lIns="0" tIns="0" rIns="0" bIns="0" rtlCol="0" anchor="ctr"/>
          <a:lstStyle/>
          <a:p>
            <a:pPr marL="0" indent="0">
              <a:buNone/>
            </a:pPr>
            <a:r>
              <a:rPr lang="en-US" sz="1250" dirty="0">
                <a:solidFill>
                  <a:srgbClr val="B9C2CE"/>
                </a:solidFill>
                <a:latin typeface="Calibri" pitchFamily="34" charset="0"/>
                <a:ea typeface="Calibri" pitchFamily="34" charset="-122"/>
                <a:cs typeface="Calibri" pitchFamily="34" charset="-120"/>
              </a:rPr>
              <a:t>Decir “ayuda humana” y llegar a P-06</a:t>
            </a:r>
            <a:endParaRPr lang="en-US" sz="1250" dirty="0"/>
          </a:p>
        </p:txBody>
      </p:sp>
      <p:sp>
        <p:nvSpPr>
          <p:cNvPr id="17" name="Shape 15"/>
          <p:cNvSpPr/>
          <p:nvPr/>
        </p:nvSpPr>
        <p:spPr>
          <a:xfrm>
            <a:off x="6080760" y="2331720"/>
            <a:ext cx="5532120" cy="3566160"/>
          </a:xfrm>
          <a:prstGeom prst="roundRect">
            <a:avLst>
              <a:gd name="adj" fmla="val 2564"/>
            </a:avLst>
          </a:prstGeom>
          <a:solidFill>
            <a:srgbClr val="151A21"/>
          </a:solidFill>
          <a:ln w="12700">
            <a:solidFill>
              <a:srgbClr val="4DD0FF"/>
            </a:solidFill>
            <a:prstDash val="solid"/>
          </a:ln>
        </p:spPr>
      </p:sp>
      <p:sp>
        <p:nvSpPr>
          <p:cNvPr id="18" name="Text 16"/>
          <p:cNvSpPr txBox="1"/>
          <p:nvPr/>
        </p:nvSpPr>
        <p:spPr>
          <a:xfrm>
            <a:off x="6400800" y="2514600"/>
            <a:ext cx="4937760" cy="365760"/>
          </a:xfrm>
          <a:prstGeom prst="rect">
            <a:avLst/>
          </a:prstGeom>
          <a:noFill/>
          <a:ln/>
        </p:spPr>
        <p:txBody>
          <a:bodyPr wrap="square" lIns="0" tIns="0" rIns="0" bIns="0" rtlCol="0" anchor="ctr"/>
          <a:lstStyle/>
          <a:p>
            <a:pPr marL="0" indent="0">
              <a:buNone/>
            </a:pPr>
            <a:r>
              <a:rPr lang="en-US" sz="1500" b="1" dirty="0">
                <a:solidFill>
                  <a:srgbClr val="4DD0FF"/>
                </a:solidFill>
                <a:latin typeface="Calibri" pitchFamily="34" charset="0"/>
                <a:ea typeface="Calibri" pitchFamily="34" charset="-122"/>
                <a:cs typeface="Calibri" pitchFamily="34" charset="-120"/>
              </a:rPr>
              <a:t>Escala SUS (Brooke, 1996)</a:t>
            </a:r>
            <a:endParaRPr lang="en-US" sz="1500" dirty="0"/>
          </a:p>
        </p:txBody>
      </p:sp>
      <p:sp>
        <p:nvSpPr>
          <p:cNvPr id="19" name="Text 17"/>
          <p:cNvSpPr txBox="1"/>
          <p:nvPr/>
        </p:nvSpPr>
        <p:spPr>
          <a:xfrm>
            <a:off x="6400800" y="2926080"/>
            <a:ext cx="4937760" cy="731520"/>
          </a:xfrm>
          <a:prstGeom prst="rect">
            <a:avLst/>
          </a:prstGeom>
          <a:noFill/>
          <a:ln/>
        </p:spPr>
        <p:txBody>
          <a:bodyPr wrap="square" lIns="0" tIns="0" rIns="0" bIns="0" rtlCol="0" anchor="ctr"/>
          <a:lstStyle/>
          <a:p>
            <a:pPr marL="0" indent="0">
              <a:lnSpc>
                <a:spcPct val="130000"/>
              </a:lnSpc>
              <a:buNone/>
            </a:pPr>
            <a:r>
              <a:rPr lang="en-US" sz="1250" dirty="0">
                <a:solidFill>
                  <a:srgbClr val="B9C2CE"/>
                </a:solidFill>
                <a:latin typeface="Calibri" pitchFamily="34" charset="0"/>
                <a:ea typeface="Calibri" pitchFamily="34" charset="-122"/>
                <a:cs typeface="Calibri" pitchFamily="34" charset="-120"/>
              </a:rPr>
              <a:t>10 preguntas, puntuadas de 1 a 5, sobre qué tan usable percibe el participante que es la app.</a:t>
            </a:r>
            <a:endParaRPr lang="en-US" sz="1250" dirty="0"/>
          </a:p>
        </p:txBody>
      </p:sp>
      <p:sp>
        <p:nvSpPr>
          <p:cNvPr id="20" name="Text 18"/>
          <p:cNvSpPr txBox="1"/>
          <p:nvPr/>
        </p:nvSpPr>
        <p:spPr>
          <a:xfrm>
            <a:off x="6400800" y="3840480"/>
            <a:ext cx="2011680" cy="914400"/>
          </a:xfrm>
          <a:prstGeom prst="rect">
            <a:avLst/>
          </a:prstGeom>
          <a:noFill/>
          <a:ln/>
        </p:spPr>
        <p:txBody>
          <a:bodyPr wrap="square" lIns="0" tIns="0" rIns="0" bIns="0" rtlCol="0" anchor="ctr"/>
          <a:lstStyle/>
          <a:p>
            <a:pPr marL="0" indent="0">
              <a:buNone/>
            </a:pPr>
            <a:r>
              <a:rPr lang="en-US" sz="4400" b="1" dirty="0">
                <a:solidFill>
                  <a:srgbClr val="5BE39A"/>
                </a:solidFill>
                <a:latin typeface="Cambria" pitchFamily="34" charset="0"/>
                <a:ea typeface="Cambria" pitchFamily="34" charset="-122"/>
                <a:cs typeface="Cambria" pitchFamily="34" charset="-120"/>
              </a:rPr>
              <a:t>68</a:t>
            </a:r>
            <a:endParaRPr lang="en-US" sz="4400" dirty="0"/>
          </a:p>
        </p:txBody>
      </p:sp>
      <p:sp>
        <p:nvSpPr>
          <p:cNvPr id="21" name="Text 19"/>
          <p:cNvSpPr txBox="1"/>
          <p:nvPr/>
        </p:nvSpPr>
        <p:spPr>
          <a:xfrm>
            <a:off x="8412480" y="3977640"/>
            <a:ext cx="2926080" cy="1005840"/>
          </a:xfrm>
          <a:prstGeom prst="rect">
            <a:avLst/>
          </a:prstGeom>
          <a:noFill/>
          <a:ln/>
        </p:spPr>
        <p:txBody>
          <a:bodyPr wrap="square" lIns="0" tIns="0" rIns="0" bIns="0" rtlCol="0" anchor="ctr"/>
          <a:lstStyle/>
          <a:p>
            <a:pPr marL="0" indent="0">
              <a:lnSpc>
                <a:spcPct val="125000"/>
              </a:lnSpc>
              <a:buNone/>
            </a:pPr>
            <a:r>
              <a:rPr lang="en-US" sz="1200" dirty="0">
                <a:solidFill>
                  <a:srgbClr val="B9C2CE"/>
                </a:solidFill>
                <a:latin typeface="Calibri" pitchFamily="34" charset="0"/>
                <a:ea typeface="Calibri" pitchFamily="34" charset="-122"/>
                <a:cs typeface="Calibri" pitchFamily="34" charset="-120"/>
              </a:rPr>
              <a:t>puntos sobre 100 — el umbral de “usabilidad aceptable” que se usará como meta</a:t>
            </a:r>
            <a:endParaRPr lang="en-US" sz="1200" dirty="0"/>
          </a:p>
        </p:txBody>
      </p:sp>
      <p:sp>
        <p:nvSpPr>
          <p:cNvPr id="22" name="Text 20"/>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50" b="1" kern="0" spc="200" dirty="0">
                <a:solidFill>
                  <a:srgbClr val="FFD400"/>
                </a:solidFill>
                <a:latin typeface="Calibri" pitchFamily="34" charset="0"/>
                <a:ea typeface="Calibri" pitchFamily="34" charset="-122"/>
                <a:cs typeface="Calibri" pitchFamily="34" charset="-120"/>
              </a:rPr>
              <a:t>CIERRE</a:t>
            </a:r>
            <a:endParaRPr lang="en-US" sz="1250" dirty="0"/>
          </a:p>
        </p:txBody>
      </p:sp>
      <p:sp>
        <p:nvSpPr>
          <p:cNvPr id="3" name="Text 1"/>
          <p:cNvSpPr txBox="1"/>
          <p:nvPr/>
        </p:nvSpPr>
        <p:spPr>
          <a:xfrm>
            <a:off x="548640" y="777240"/>
            <a:ext cx="1088136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4" name="Text 2"/>
          <p:cNvSpPr txBox="1"/>
          <p:nvPr/>
        </p:nvSpPr>
        <p:spPr>
          <a:xfrm>
            <a:off x="548640" y="1828800"/>
            <a:ext cx="1828800" cy="914400"/>
          </a:xfrm>
          <a:prstGeom prst="rect">
            <a:avLst/>
          </a:prstGeom>
          <a:noFill/>
          <a:ln/>
        </p:spPr>
        <p:txBody>
          <a:bodyPr wrap="square" lIns="0" tIns="0" rIns="0" bIns="0" rtlCol="0" anchor="ctr"/>
          <a:lstStyle/>
          <a:p>
            <a:pPr marL="0" indent="0">
              <a:buNone/>
            </a:pPr>
            <a:r>
              <a:rPr lang="en-US" sz="1700" b="1" dirty="0">
                <a:solidFill>
                  <a:srgbClr val="FFD400"/>
                </a:solidFill>
                <a:latin typeface="Cambria" pitchFamily="34" charset="0"/>
                <a:ea typeface="Cambria" pitchFamily="34" charset="-122"/>
                <a:cs typeface="Cambria" pitchFamily="34" charset="-120"/>
              </a:rPr>
              <a:t>Primera</a:t>
            </a:r>
            <a:endParaRPr lang="en-US" sz="1700" dirty="0"/>
          </a:p>
        </p:txBody>
      </p:sp>
      <p:sp>
        <p:nvSpPr>
          <p:cNvPr id="5" name="Text 3"/>
          <p:cNvSpPr txBox="1"/>
          <p:nvPr/>
        </p:nvSpPr>
        <p:spPr>
          <a:xfrm>
            <a:off x="2468880" y="1828800"/>
            <a:ext cx="9052560" cy="914400"/>
          </a:xfrm>
          <a:prstGeom prst="rect">
            <a:avLst/>
          </a:prstGeom>
          <a:noFill/>
          <a:ln/>
        </p:spPr>
        <p:txBody>
          <a:bodyPr wrap="square" lIns="0" tIns="0" rIns="0" bIns="0" rtlCol="0" anchor="ctr"/>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El diseño pasó de maqueta a prototipo navegable, con decisiones de interacción respaldadas en voz, vibración y alto contraste a la vez.</a:t>
            </a:r>
            <a:endParaRPr lang="en-US" sz="1450" dirty="0"/>
          </a:p>
        </p:txBody>
      </p:sp>
      <p:sp>
        <p:nvSpPr>
          <p:cNvPr id="6" name="Text 4"/>
          <p:cNvSpPr txBox="1"/>
          <p:nvPr/>
        </p:nvSpPr>
        <p:spPr>
          <a:xfrm>
            <a:off x="548640" y="2944368"/>
            <a:ext cx="1828800" cy="914400"/>
          </a:xfrm>
          <a:prstGeom prst="rect">
            <a:avLst/>
          </a:prstGeom>
          <a:noFill/>
          <a:ln/>
        </p:spPr>
        <p:txBody>
          <a:bodyPr wrap="square" lIns="0" tIns="0" rIns="0" bIns="0" rtlCol="0" anchor="ctr"/>
          <a:lstStyle/>
          <a:p>
            <a:pPr marL="0" indent="0">
              <a:buNone/>
            </a:pPr>
            <a:r>
              <a:rPr lang="en-US" sz="1700" b="1" dirty="0">
                <a:solidFill>
                  <a:srgbClr val="FFD400"/>
                </a:solidFill>
                <a:latin typeface="Cambria" pitchFamily="34" charset="0"/>
                <a:ea typeface="Cambria" pitchFamily="34" charset="-122"/>
                <a:cs typeface="Cambria" pitchFamily="34" charset="-120"/>
              </a:rPr>
              <a:t>Segunda</a:t>
            </a:r>
            <a:endParaRPr lang="en-US" sz="1700" dirty="0"/>
          </a:p>
        </p:txBody>
      </p:sp>
      <p:sp>
        <p:nvSpPr>
          <p:cNvPr id="7" name="Text 5"/>
          <p:cNvSpPr txBox="1"/>
          <p:nvPr/>
        </p:nvSpPr>
        <p:spPr>
          <a:xfrm>
            <a:off x="2468880" y="2944368"/>
            <a:ext cx="9052560" cy="914400"/>
          </a:xfrm>
          <a:prstGeom prst="rect">
            <a:avLst/>
          </a:prstGeom>
          <a:noFill/>
          <a:ln/>
        </p:spPr>
        <p:txBody>
          <a:bodyPr wrap="square" lIns="0" tIns="0" rIns="0" bIns="0" rtlCol="0" anchor="ctr"/>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El alcance acotado a discapacidad visual permitió profundidad real, respaldada por el marco teórico del curso.</a:t>
            </a:r>
            <a:endParaRPr lang="en-US" sz="1450" dirty="0"/>
          </a:p>
        </p:txBody>
      </p:sp>
      <p:sp>
        <p:nvSpPr>
          <p:cNvPr id="8" name="Text 6"/>
          <p:cNvSpPr txBox="1"/>
          <p:nvPr/>
        </p:nvSpPr>
        <p:spPr>
          <a:xfrm>
            <a:off x="548640" y="4059936"/>
            <a:ext cx="1828800" cy="914400"/>
          </a:xfrm>
          <a:prstGeom prst="rect">
            <a:avLst/>
          </a:prstGeom>
          <a:noFill/>
          <a:ln/>
        </p:spPr>
        <p:txBody>
          <a:bodyPr wrap="square" lIns="0" tIns="0" rIns="0" bIns="0" rtlCol="0" anchor="ctr"/>
          <a:lstStyle/>
          <a:p>
            <a:pPr marL="0" indent="0">
              <a:buNone/>
            </a:pPr>
            <a:r>
              <a:rPr lang="en-US" sz="1700" b="1" dirty="0">
                <a:solidFill>
                  <a:srgbClr val="FFD400"/>
                </a:solidFill>
                <a:latin typeface="Cambria" pitchFamily="34" charset="0"/>
                <a:ea typeface="Cambria" pitchFamily="34" charset="-122"/>
                <a:cs typeface="Cambria" pitchFamily="34" charset="-120"/>
              </a:rPr>
              <a:t>Tercera</a:t>
            </a:r>
            <a:endParaRPr lang="en-US" sz="1700" dirty="0"/>
          </a:p>
        </p:txBody>
      </p:sp>
      <p:sp>
        <p:nvSpPr>
          <p:cNvPr id="9" name="Text 7"/>
          <p:cNvSpPr txBox="1"/>
          <p:nvPr/>
        </p:nvSpPr>
        <p:spPr>
          <a:xfrm>
            <a:off x="2468880" y="4059936"/>
            <a:ext cx="9052560" cy="914400"/>
          </a:xfrm>
          <a:prstGeom prst="rect">
            <a:avLst/>
          </a:prstGeom>
          <a:noFill/>
          <a:ln/>
        </p:spPr>
        <p:txBody>
          <a:bodyPr wrap="square" lIns="0" tIns="0" rIns="0" bIns="0" rtlCol="0" anchor="ctr"/>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La evaluación heurística encontró cumplimiento sólido y tres mejoras honestas — no fue un ejercicio confirmatorio.</a:t>
            </a:r>
            <a:endParaRPr lang="en-US" sz="1450" dirty="0"/>
          </a:p>
        </p:txBody>
      </p:sp>
      <p:sp>
        <p:nvSpPr>
          <p:cNvPr id="10" name="Text 8"/>
          <p:cNvSpPr txBox="1"/>
          <p:nvPr/>
        </p:nvSpPr>
        <p:spPr>
          <a:xfrm>
            <a:off x="548640" y="5175504"/>
            <a:ext cx="1828800" cy="914400"/>
          </a:xfrm>
          <a:prstGeom prst="rect">
            <a:avLst/>
          </a:prstGeom>
          <a:noFill/>
          <a:ln/>
        </p:spPr>
        <p:txBody>
          <a:bodyPr wrap="square" lIns="0" tIns="0" rIns="0" bIns="0" rtlCol="0" anchor="ctr"/>
          <a:lstStyle/>
          <a:p>
            <a:pPr marL="0" indent="0">
              <a:buNone/>
            </a:pPr>
            <a:r>
              <a:rPr lang="en-US" sz="1700" b="1" dirty="0">
                <a:solidFill>
                  <a:srgbClr val="FFD400"/>
                </a:solidFill>
                <a:latin typeface="Cambria" pitchFamily="34" charset="0"/>
                <a:ea typeface="Cambria" pitchFamily="34" charset="-122"/>
                <a:cs typeface="Cambria" pitchFamily="34" charset="-120"/>
              </a:rPr>
              <a:t>Cuarta</a:t>
            </a:r>
            <a:endParaRPr lang="en-US" sz="1700" dirty="0"/>
          </a:p>
        </p:txBody>
      </p:sp>
      <p:sp>
        <p:nvSpPr>
          <p:cNvPr id="11" name="Text 9"/>
          <p:cNvSpPr txBox="1"/>
          <p:nvPr/>
        </p:nvSpPr>
        <p:spPr>
          <a:xfrm>
            <a:off x="2468880" y="5175504"/>
            <a:ext cx="9052560" cy="914400"/>
          </a:xfrm>
          <a:prstGeom prst="rect">
            <a:avLst/>
          </a:prstGeom>
          <a:noFill/>
          <a:ln/>
        </p:spPr>
        <p:txBody>
          <a:bodyPr wrap="square" lIns="0" tIns="0" rIns="0" bIns="0" rtlCol="0" anchor="ctr"/>
          <a:lstStyle/>
          <a:p>
            <a:pPr marL="0" indent="0">
              <a:lnSpc>
                <a:spcPct val="130000"/>
              </a:lnSpc>
              <a:buNone/>
            </a:pPr>
            <a:r>
              <a:rPr lang="en-US" sz="1450" dirty="0">
                <a:solidFill>
                  <a:srgbClr val="FFFFFF"/>
                </a:solidFill>
                <a:latin typeface="Calibri" pitchFamily="34" charset="0"/>
                <a:ea typeface="Calibri" pitchFamily="34" charset="-122"/>
                <a:cs typeface="Calibri" pitchFamily="34" charset="-120"/>
              </a:rPr>
              <a:t>El protocolo SUS con usuarios reales es el paso inmediato pendiente, antes del lanzamiento final.</a:t>
            </a:r>
            <a:endParaRPr lang="en-US" sz="1450" dirty="0"/>
          </a:p>
        </p:txBody>
      </p:sp>
      <p:sp>
        <p:nvSpPr>
          <p:cNvPr id="12" name="Text 10"/>
          <p:cNvSpPr txBox="1"/>
          <p:nvPr/>
        </p:nvSpPr>
        <p:spPr>
          <a:xfrm>
            <a:off x="10881360" y="6510528"/>
            <a:ext cx="1097280" cy="274320"/>
          </a:xfrm>
          <a:prstGeom prst="rect">
            <a:avLst/>
          </a:prstGeom>
          <a:noFill/>
          <a:ln/>
        </p:spPr>
        <p:txBody>
          <a:bodyPr wrap="square" lIns="0" tIns="0" rIns="0" bIns="0" rtlCol="0" anchor="ctr"/>
          <a:lstStyle/>
          <a:p>
            <a:pPr marL="0" indent="0" algn="r">
              <a:buNone/>
            </a:pPr>
            <a:r>
              <a:rPr lang="en-US" sz="900" dirty="0">
                <a:solidFill>
                  <a:srgbClr val="B9C2CE"/>
                </a:solidFill>
                <a:latin typeface="Calibri" pitchFamily="34" charset="0"/>
                <a:ea typeface="Calibri" pitchFamily="34" charset="-122"/>
                <a:cs typeface="Calibri" pitchFamily="34" charset="-120"/>
              </a:rPr>
              <a:t>VÍA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a:effectLst/>
      </p:bgPr>
    </p:bg>
    <p:spTree>
      <p:nvGrpSpPr>
        <p:cNvPr id="1" name=""/>
        <p:cNvGrpSpPr/>
        <p:nvPr/>
      </p:nvGrpSpPr>
      <p:grpSpPr>
        <a:xfrm>
          <a:off x="0" y="0"/>
          <a:ext cx="0" cy="0"/>
          <a:chOff x="0" y="0"/>
          <a:chExt cx="0" cy="0"/>
        </a:xfrm>
      </p:grpSpPr>
      <p:sp>
        <p:nvSpPr>
          <p:cNvPr id="2" name="Shape 0"/>
          <p:cNvSpPr/>
          <p:nvPr/>
        </p:nvSpPr>
        <p:spPr>
          <a:xfrm>
            <a:off x="5120640" y="1828800"/>
            <a:ext cx="1005840" cy="1005840"/>
          </a:xfrm>
          <a:prstGeom prst="roundRect">
            <a:avLst>
              <a:gd name="adj" fmla="val 10909"/>
            </a:avLst>
          </a:prstGeom>
          <a:solidFill>
            <a:srgbClr val="FFD400"/>
          </a:solidFill>
          <a:ln/>
        </p:spPr>
      </p:sp>
      <p:sp>
        <p:nvSpPr>
          <p:cNvPr id="3" name="Text 1"/>
          <p:cNvSpPr txBox="1"/>
          <p:nvPr/>
        </p:nvSpPr>
        <p:spPr>
          <a:xfrm>
            <a:off x="5120640" y="1828800"/>
            <a:ext cx="1005840" cy="1005840"/>
          </a:xfrm>
          <a:prstGeom prst="rect">
            <a:avLst/>
          </a:prstGeom>
          <a:noFill/>
          <a:ln/>
        </p:spPr>
        <p:txBody>
          <a:bodyPr wrap="square" lIns="0" tIns="0" rIns="0" bIns="0" rtlCol="0" anchor="ctr"/>
          <a:lstStyle/>
          <a:p>
            <a:pPr marL="0" indent="0" algn="ctr">
              <a:buNone/>
            </a:pPr>
            <a:r>
              <a:rPr lang="en-US" sz="4000" b="1" dirty="0">
                <a:solidFill>
                  <a:srgbClr val="0B0F14"/>
                </a:solidFill>
                <a:latin typeface="Cambria" pitchFamily="34" charset="0"/>
                <a:ea typeface="Cambria" pitchFamily="34" charset="-122"/>
                <a:cs typeface="Cambria" pitchFamily="34" charset="-120"/>
              </a:rPr>
              <a:t>V</a:t>
            </a:r>
            <a:endParaRPr lang="en-US" sz="4000" dirty="0"/>
          </a:p>
        </p:txBody>
      </p:sp>
      <p:sp>
        <p:nvSpPr>
          <p:cNvPr id="4" name="Text 2"/>
          <p:cNvSpPr txBox="1"/>
          <p:nvPr/>
        </p:nvSpPr>
        <p:spPr>
          <a:xfrm>
            <a:off x="548640" y="3108960"/>
            <a:ext cx="1106424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5" name="Text 3"/>
          <p:cNvSpPr txBox="1"/>
          <p:nvPr/>
        </p:nvSpPr>
        <p:spPr>
          <a:xfrm>
            <a:off x="548640" y="4114800"/>
            <a:ext cx="11064240" cy="548640"/>
          </a:xfrm>
          <a:prstGeom prst="rect">
            <a:avLst/>
          </a:prstGeom>
          <a:noFill/>
          <a:ln/>
        </p:spPr>
        <p:txBody>
          <a:bodyPr wrap="square" lIns="0" tIns="0" rIns="0" bIns="0" rtlCol="0" anchor="ctr"/>
          <a:lstStyle/>
          <a:p>
            <a:pPr marL="0" indent="0" algn="ctr">
              <a:buNone/>
            </a:pPr>
            <a:r>
              <a:rPr lang="en-US" sz="1800" i="1" dirty="0">
                <a:solidFill>
                  <a:srgbClr val="4DD0FF"/>
                </a:solidFill>
                <a:latin typeface="Calibri" pitchFamily="34" charset="0"/>
                <a:ea typeface="Calibri" pitchFamily="34" charset="-122"/>
                <a:cs typeface="Calibri" pitchFamily="34" charset="-120"/>
              </a:rPr>
              <a:t>¿Preguntas?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992</Words>
  <Application>Microsoft Office PowerPoint</Application>
  <PresentationFormat>Panorámica</PresentationFormat>
  <Paragraphs>148</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ALUMNO - ENRIQUE SEBASTI�N POMA NIZAMA</cp:lastModifiedBy>
  <cp:revision>3</cp:revision>
  <dcterms:created xsi:type="dcterms:W3CDTF">2026-10-01T20:05:48Z</dcterms:created>
  <dcterms:modified xsi:type="dcterms:W3CDTF">2026-10-01T20:40:51Z</dcterms:modified>
</cp:coreProperties>
</file>